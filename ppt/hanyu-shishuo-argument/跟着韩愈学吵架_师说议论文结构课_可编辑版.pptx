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cb3ed00d1b4d76" /><Relationship Type="http://schemas.openxmlformats.org/officeDocument/2006/relationships/extended-properties" Target="/docProps/app.xml" Id="Re2f6f3b28b154c84" /><Relationship Type="http://schemas.openxmlformats.org/officeDocument/2006/relationships/officeDocument" Target="/ppt/presentation.xml" Id="R9a9e7049542e48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6d76d776304159"/>
  </p:sldMasterIdLst>
  <p:notesMasterIdLst>
    <p:notesMasterId xmlns:r="http://schemas.openxmlformats.org/officeDocument/2006/relationships" r:id="R29ae9cb975004159"/>
  </p:notesMasterIdLst>
  <p:sldIdLst>
    <p:sldId xmlns:r="http://schemas.openxmlformats.org/officeDocument/2006/relationships" id="256" r:id="R8ec8e3329e3c485d"/>
    <p:sldId xmlns:r="http://schemas.openxmlformats.org/officeDocument/2006/relationships" id="257" r:id="R28d1e6d8ba0f42bc"/>
    <p:sldId xmlns:r="http://schemas.openxmlformats.org/officeDocument/2006/relationships" id="258" r:id="R36a957be5d4646de"/>
    <p:sldId xmlns:r="http://schemas.openxmlformats.org/officeDocument/2006/relationships" id="259" r:id="R3fc13091b3864ce8"/>
    <p:sldId xmlns:r="http://schemas.openxmlformats.org/officeDocument/2006/relationships" id="260" r:id="R1da720465b7f416b"/>
    <p:sldId xmlns:r="http://schemas.openxmlformats.org/officeDocument/2006/relationships" id="261" r:id="R0c59258e15094491"/>
    <p:sldId xmlns:r="http://schemas.openxmlformats.org/officeDocument/2006/relationships" id="262" r:id="Rd321c4f0ca0e43a7"/>
    <p:sldId xmlns:r="http://schemas.openxmlformats.org/officeDocument/2006/relationships" id="263" r:id="Rde808c17f3fc4e04"/>
    <p:sldId xmlns:r="http://schemas.openxmlformats.org/officeDocument/2006/relationships" id="264" r:id="Rd905518e5f94407c"/>
    <p:sldId xmlns:r="http://schemas.openxmlformats.org/officeDocument/2006/relationships" id="265" r:id="Rcb00c61c397c4e89"/>
    <p:sldId xmlns:r="http://schemas.openxmlformats.org/officeDocument/2006/relationships" id="266" r:id="R2c5e640d60c84e44"/>
    <p:sldId xmlns:r="http://schemas.openxmlformats.org/officeDocument/2006/relationships" id="267" r:id="R8ac43b0fe149489c"/>
    <p:sldId xmlns:r="http://schemas.openxmlformats.org/officeDocument/2006/relationships" id="268" r:id="R8114dae7c50945de"/>
    <p:sldId xmlns:r="http://schemas.openxmlformats.org/officeDocument/2006/relationships" id="269" r:id="R058d66adbe274ffd"/>
    <p:sldId xmlns:r="http://schemas.openxmlformats.org/officeDocument/2006/relationships" id="270" r:id="Rc2212b526e1f4d80"/>
    <p:sldId xmlns:r="http://schemas.openxmlformats.org/officeDocument/2006/relationships" id="271" r:id="Rdf50d7ce8cd04dc5"/>
    <p:sldId xmlns:r="http://schemas.openxmlformats.org/officeDocument/2006/relationships" id="272" r:id="R390103e0b38441ee"/>
    <p:sldId xmlns:r="http://schemas.openxmlformats.org/officeDocument/2006/relationships" id="273" r:id="R8fc455f9275f4926"/>
    <p:sldId xmlns:r="http://schemas.openxmlformats.org/officeDocument/2006/relationships" id="274" r:id="Reddc150357a74619"/>
    <p:sldId xmlns:r="http://schemas.openxmlformats.org/officeDocument/2006/relationships" id="275" r:id="R5e29a78eebc54c5b"/>
    <p:sldId xmlns:r="http://schemas.openxmlformats.org/officeDocument/2006/relationships" id="276" r:id="R74b54e8ac0314183"/>
    <p:sldId xmlns:r="http://schemas.openxmlformats.org/officeDocument/2006/relationships" id="277" r:id="R3b03f9f47f504cbb"/>
    <p:sldId xmlns:r="http://schemas.openxmlformats.org/officeDocument/2006/relationships" id="278" r:id="Rc956dc3460914b15"/>
    <p:sldId xmlns:r="http://schemas.openxmlformats.org/officeDocument/2006/relationships" id="279" r:id="R20d7d09d470f4575"/>
    <p:sldId xmlns:r="http://schemas.openxmlformats.org/officeDocument/2006/relationships" id="280" r:id="Rfceb1248176649fa"/>
    <p:sldId xmlns:r="http://schemas.openxmlformats.org/officeDocument/2006/relationships" id="281" r:id="R2905e8c16c074ef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3c369d1b9a4061" /><Relationship Type="http://schemas.openxmlformats.org/officeDocument/2006/relationships/slideMaster" Target="/ppt/slideMasters/slideMaster1.xml" Id="Rfa6d76d776304159" /><Relationship Type="http://schemas.openxmlformats.org/officeDocument/2006/relationships/notesMaster" Target="/ppt/notesMasters/notesMaster1.xml" Id="R29ae9cb975004159" /><Relationship Type="http://schemas.openxmlformats.org/officeDocument/2006/relationships/presProps" Target="/ppt/presProps.xml" Id="R6c9d23898deb42f3" /><Relationship Type="http://schemas.openxmlformats.org/officeDocument/2006/relationships/viewProps" Target="/ppt/viewProps.xml" Id="Reba43dc9d7a844d8" /><Relationship Type="http://schemas.openxmlformats.org/officeDocument/2006/relationships/tableStyles" Target="/ppt/tableStyles.xml" Id="Rb4816793c4e046c7" /><Relationship Type="http://schemas.openxmlformats.org/officeDocument/2006/relationships/slide" Target="/ppt/slides/slide1.xml" Id="R8ec8e3329e3c485d" /><Relationship Type="http://schemas.openxmlformats.org/officeDocument/2006/relationships/slide" Target="/ppt/slides/slide2.xml" Id="R28d1e6d8ba0f42bc" /><Relationship Type="http://schemas.openxmlformats.org/officeDocument/2006/relationships/slide" Target="/ppt/slides/slide3.xml" Id="R36a957be5d4646de" /><Relationship Type="http://schemas.openxmlformats.org/officeDocument/2006/relationships/slide" Target="/ppt/slides/slide4.xml" Id="R3fc13091b3864ce8" /><Relationship Type="http://schemas.openxmlformats.org/officeDocument/2006/relationships/slide" Target="/ppt/slides/slide5.xml" Id="R1da720465b7f416b" /><Relationship Type="http://schemas.openxmlformats.org/officeDocument/2006/relationships/slide" Target="/ppt/slides/slide6.xml" Id="R0c59258e15094491" /><Relationship Type="http://schemas.openxmlformats.org/officeDocument/2006/relationships/slide" Target="/ppt/slides/slide7.xml" Id="Rd321c4f0ca0e43a7" /><Relationship Type="http://schemas.openxmlformats.org/officeDocument/2006/relationships/slide" Target="/ppt/slides/slide8.xml" Id="Rde808c17f3fc4e04" /><Relationship Type="http://schemas.openxmlformats.org/officeDocument/2006/relationships/slide" Target="/ppt/slides/slide9.xml" Id="Rd905518e5f94407c" /><Relationship Type="http://schemas.openxmlformats.org/officeDocument/2006/relationships/slide" Target="/ppt/slides/slide10.xml" Id="Rcb00c61c397c4e89" /><Relationship Type="http://schemas.openxmlformats.org/officeDocument/2006/relationships/slide" Target="/ppt/slides/slide11.xml" Id="R2c5e640d60c84e44" /><Relationship Type="http://schemas.openxmlformats.org/officeDocument/2006/relationships/slide" Target="/ppt/slides/slide12.xml" Id="R8ac43b0fe149489c" /><Relationship Type="http://schemas.openxmlformats.org/officeDocument/2006/relationships/slide" Target="/ppt/slides/slide13.xml" Id="R8114dae7c50945de" /><Relationship Type="http://schemas.openxmlformats.org/officeDocument/2006/relationships/slide" Target="/ppt/slides/slide14.xml" Id="R058d66adbe274ffd" /><Relationship Type="http://schemas.openxmlformats.org/officeDocument/2006/relationships/slide" Target="/ppt/slides/slide15.xml" Id="Rc2212b526e1f4d80" /><Relationship Type="http://schemas.openxmlformats.org/officeDocument/2006/relationships/slide" Target="/ppt/slides/slide16.xml" Id="Rdf50d7ce8cd04dc5" /><Relationship Type="http://schemas.openxmlformats.org/officeDocument/2006/relationships/slide" Target="/ppt/slides/slide17.xml" Id="R390103e0b38441ee" /><Relationship Type="http://schemas.openxmlformats.org/officeDocument/2006/relationships/slide" Target="/ppt/slides/slide18.xml" Id="R8fc455f9275f4926" /><Relationship Type="http://schemas.openxmlformats.org/officeDocument/2006/relationships/slide" Target="/ppt/slides/slide19.xml" Id="Reddc150357a74619" /><Relationship Type="http://schemas.openxmlformats.org/officeDocument/2006/relationships/slide" Target="/ppt/slides/slide20.xml" Id="R5e29a78eebc54c5b" /><Relationship Type="http://schemas.openxmlformats.org/officeDocument/2006/relationships/slide" Target="/ppt/slides/slide21.xml" Id="R74b54e8ac0314183" /><Relationship Type="http://schemas.openxmlformats.org/officeDocument/2006/relationships/slide" Target="/ppt/slides/slide22.xml" Id="R3b03f9f47f504cbb" /><Relationship Type="http://schemas.openxmlformats.org/officeDocument/2006/relationships/slide" Target="/ppt/slides/slide23.xml" Id="Rc956dc3460914b15" /><Relationship Type="http://schemas.openxmlformats.org/officeDocument/2006/relationships/slide" Target="/ppt/slides/slide24.xml" Id="R20d7d09d470f4575" /><Relationship Type="http://schemas.openxmlformats.org/officeDocument/2006/relationships/slide" Target="/ppt/slides/slide25.xml" Id="Rfceb1248176649fa" /><Relationship Type="http://schemas.openxmlformats.org/officeDocument/2006/relationships/slide" Target="/ppt/slides/slide26.xml" Id="R2905e8c16c074e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3765dcce604b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4ae1b25fc04e31" /><Relationship Type="http://schemas.openxmlformats.org/officeDocument/2006/relationships/notesMaster" Target="/ppt/notesMasters/notesMaster1.xml" Id="R66d9ef1c10ca4a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f88320cb134492" /><Relationship Type="http://schemas.openxmlformats.org/officeDocument/2006/relationships/notesMaster" Target="/ppt/notesMasters/notesMaster1.xml" Id="R21a58455cc8242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fa39b82a654f23" /><Relationship Type="http://schemas.openxmlformats.org/officeDocument/2006/relationships/notesMaster" Target="/ppt/notesMasters/notesMaster1.xml" Id="Ra96f66f0275545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4a49f7a34646a5" /><Relationship Type="http://schemas.openxmlformats.org/officeDocument/2006/relationships/notesMaster" Target="/ppt/notesMasters/notesMaster1.xml" Id="Rc639e08d397545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79f10259a74747" /><Relationship Type="http://schemas.openxmlformats.org/officeDocument/2006/relationships/notesMaster" Target="/ppt/notesMasters/notesMaster1.xml" Id="R69be9ad8663447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9517039d8b48e7" /><Relationship Type="http://schemas.openxmlformats.org/officeDocument/2006/relationships/notesMaster" Target="/ppt/notesMasters/notesMaster1.xml" Id="Ra70aa43c720242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28dd1014b54077" /><Relationship Type="http://schemas.openxmlformats.org/officeDocument/2006/relationships/notesMaster" Target="/ppt/notesMasters/notesMaster1.xml" Id="R1166be6df63844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5740cbf66e4e51" /><Relationship Type="http://schemas.openxmlformats.org/officeDocument/2006/relationships/notesMaster" Target="/ppt/notesMasters/notesMaster1.xml" Id="R16b494d2ca9c47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6af93cbad74824" /><Relationship Type="http://schemas.openxmlformats.org/officeDocument/2006/relationships/notesMaster" Target="/ppt/notesMasters/notesMaster1.xml" Id="Rb5a26c2eab194d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32661ae27c4d46" /><Relationship Type="http://schemas.openxmlformats.org/officeDocument/2006/relationships/notesMaster" Target="/ppt/notesMasters/notesMaster1.xml" Id="R9afca192982245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793daf3b4f4d74" /><Relationship Type="http://schemas.openxmlformats.org/officeDocument/2006/relationships/notesMaster" Target="/ppt/notesMasters/notesMaster1.xml" Id="Rc5c7f7084ab747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5bc3a452f84958" /><Relationship Type="http://schemas.openxmlformats.org/officeDocument/2006/relationships/notesMaster" Target="/ppt/notesMasters/notesMaster1.xml" Id="R239a8bfb680f45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aebc99833c40f9" /><Relationship Type="http://schemas.openxmlformats.org/officeDocument/2006/relationships/notesMaster" Target="/ppt/notesMasters/notesMaster1.xml" Id="R759a906ee12540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2b994419a64f63" /><Relationship Type="http://schemas.openxmlformats.org/officeDocument/2006/relationships/notesMaster" Target="/ppt/notesMasters/notesMaster1.xml" Id="Ra6c3df0bc46744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ec9000a0574b8d" /><Relationship Type="http://schemas.openxmlformats.org/officeDocument/2006/relationships/notesMaster" Target="/ppt/notesMasters/notesMaster1.xml" Id="R80c2e2a03999414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2e03de31f9b4b4a" /><Relationship Type="http://schemas.openxmlformats.org/officeDocument/2006/relationships/notesMaster" Target="/ppt/notesMasters/notesMaster1.xml" Id="R5d3d76b631ef4d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135a006c7f4975" /><Relationship Type="http://schemas.openxmlformats.org/officeDocument/2006/relationships/notesMaster" Target="/ppt/notesMasters/notesMaster1.xml" Id="R01d2956e8b0a42a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3cae181c0f143ec" /><Relationship Type="http://schemas.openxmlformats.org/officeDocument/2006/relationships/notesMaster" Target="/ppt/notesMasters/notesMaster1.xml" Id="Rc5f7b6c98d9c4b4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40f33f3c0d4206" /><Relationship Type="http://schemas.openxmlformats.org/officeDocument/2006/relationships/notesMaster" Target="/ppt/notesMasters/notesMaster1.xml" Id="R63bb31d6867d41a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a1f4655a914405a" /><Relationship Type="http://schemas.openxmlformats.org/officeDocument/2006/relationships/notesMaster" Target="/ppt/notesMasters/notesMaster1.xml" Id="Rb5e3cf0ce608464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399e2ce88b1482b" /><Relationship Type="http://schemas.openxmlformats.org/officeDocument/2006/relationships/notesMaster" Target="/ppt/notesMasters/notesMaster1.xml" Id="R84729464e01f4d9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722778d071a4ff0" /><Relationship Type="http://schemas.openxmlformats.org/officeDocument/2006/relationships/notesMaster" Target="/ppt/notesMasters/notesMaster1.xml" Id="Rbb241d9ef055419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039d38440ce4572" /><Relationship Type="http://schemas.openxmlformats.org/officeDocument/2006/relationships/notesMaster" Target="/ppt/notesMasters/notesMaster1.xml" Id="R21ce5e689e6245d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44a557f408b4275" /><Relationship Type="http://schemas.openxmlformats.org/officeDocument/2006/relationships/notesMaster" Target="/ppt/notesMasters/notesMaster1.xml" Id="Rd7c1866808ce4b3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017e6db2a9f428a" /><Relationship Type="http://schemas.openxmlformats.org/officeDocument/2006/relationships/notesMaster" Target="/ppt/notesMasters/notesMaster1.xml" Id="R2b51d51b66fb4bc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f09d9a189cf40f8" /><Relationship Type="http://schemas.openxmlformats.org/officeDocument/2006/relationships/notesMaster" Target="/ppt/notesMasters/notesMaster1.xml" Id="Rb6e0131ea0a14c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同学们，今天这节课我们不把《师说》当作一篇需要硬背的古文，而把它当作一篇可以直接拿来模仿的议论文范文。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我们的目标很明确：学会三段式结构，学会对比论证，更重要的是学会一种高手写议论文的习惯：先把反对者请进文章里，再把他一步步驳倒。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先请大家想一个真实考场题：论吃苦耐劳是否已经过时。现在有一个人站在你面前，他说努力没用，苦干只是自我感动，关键是选择、资源和运气。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你会怎么回答他？注意，这里不是让大家马上写观点，而是让大家意识到：议论文从来不是一个人在房间里自说自话，它本质上是一场辩论。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很多同学写议论文，会反复告诉阅卷老师“我的观点是对的”。但是为什么对？别人可能怎么质疑？质疑之后你怎么回应？这些都没有。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所以文章就像在空气里挥拳，看起来很用力，实际上没有打到任何问题。今天我们要看的《师说》，厉害就厉害在每一拳都有靶子。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韩愈写《师说》，面对的不是一个抽象题目，而是一种真实的社会风气。很多人觉得拜师学习丢身份，尤其是向比自己年轻、地位比自己低的人学习。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所以韩愈的任务不是简单歌颂老师，而是要证明：只要有道理、有知识、有先闻之道的人，就可以成为老师。年龄、身份、贵贱都不是标准。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《师说》全文四段，几乎可以直接对应我们今天讲的议论文结构。第一段立论，第二段对比批驳，第三段举例深化，第四段收束说明。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它不是想到哪里写到哪里，而是全篇都指向一个核心目标：驳倒“耻学于师”。这就是结构性论证。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接下来我们先看第一段。很多同学背《师说》第一段，只知道它很重要，但不知道它为什么重要。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今天我们换一个角度：把每一句都当成作文开头的一步棋，看韩愈怎样在七句话里完成立论、定义、推理、驳疑和升华。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大家看，这七句话不是七句并列的古文，而是一条推进链。第一句直接亮观点，第二句定义老师，第三句建立人人都会有疑惑的普遍前提，第四句说明不从师的后果。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第五句开始给标准：谁先懂道理，谁就可以做老师。第六句主动反驳年龄问题。第七句把结论升格为“道之所存，师之所存”。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这就是我们真正要学的地方。作文不是句子越漂亮越好，而是每一句都要承担任务。韩愈第一段的强，是因为它没有废话。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请大家记住这个口诀：一句论点二定义，三设前提四讲弊。五举场景六驳疑，七句升华收全意。以后写议论文开头，可以照这个骨架搭。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这一页我们把第一段直接改写成考场动作。写作时可以按顺序推进：亮观点，下定义，设前提，讲弊端，举场景，驳偏见，最后升华。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请注意，真正有用的模板不是固定句式，而是功能顺序。句式可以变化，但功能最好不要缺。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很多同学本论部分最容易没话说，写一组对比就停住。韩愈给我们的示范是：对比不只可以写一组，可以从时间、对象、身份三个维度连续推进。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这样做的效果是，反对者不是被一个理由击中，而是被三面包围。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这三组对比一定要记住。第一组是纵向比：以前和现在。第二组是横向比：对孩子和对自己。第三组是阶层比：百工和士大夫。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三个维度合起来，文章的主体就不再是单薄的一段话，而是一个立体的论证空间。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第一组对比非常狠。韩愈不是说普通人要学习，而是先说圣人都要学习。圣人已经很优秀了，还要从师；普通人远不如圣人，却耻于学习。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这就形成了强烈反差：优秀的人继续进步，愚昧的人继续退步，所以“圣益圣，愚益愚”。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第二组对比更贴身，它抓的是人的双重标准。我们愿意让孩子学习，因为孩子不会句读；但到了自己身上，明明有更大的困惑，却拒绝求教。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韩愈说这叫“小学而大遗”，小的东西学了，大的东西丢了。这句话很适合用来批评那些只重形式、不重本质的现象。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第三组对比把问题推到社会身份层面。百工之人彼此学习，士大夫却嘲笑从师的人。韩愈用这个反差完成一次价值反转。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表面上士大夫地位高，实际上他们的学习能力和认识水平，反而不如被他们看不起的人。这就是“其可怪也欤”的力量。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以后写议论文，如果本论部分没话说，不要硬凑名人名言。先画表，找三对矛盾：以前和现在，对别人和对自己，被看低的人和自以为高的人。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这三种比法可以套到很多题目上。比如吃苦耐劳过时了吗，也可以从过去的苦干、今天的长期主义，对别人要求努力、对自己逃避努力，以及所谓“傻努力”和所谓“精明躺平”去比较。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现在进入这节课最重要的部分：韩愈的靶向思维。什么叫靶向？就是他写文章之前，已经知道对方可能从哪里攻击他。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他不是等别人反驳以后再补救，而是在文章结构里提前设靶，再一个一个打掉。这就是结构性驳论。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请大家看这六个假想敌。它们分别来自年龄焦虑、身份焦虑、自我宽纵、职业歧视、圣人崇拜和师徒关系误解。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韩愈的文章厉害，是因为这些可能的反对意见都没有被放过。你想从年龄攻击，他说我学的是道；你想从身份攻击，他说无贵无贱；你想说圣人不用学，他直接举孔子为例。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结构性驳论不是简单列反对意见。更高级的一步，是看出反对意见背后的心理和利益。为什么他们不愿意从师？不是因为真的不需要，而是因为害怕丢脸，害怕降格，或者习惯性双标。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这对我们的作文很重要。动笔前先问：为什么会有人反对我？他真正担心的是什么？当你看见病根，论证才会有穿透力。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考场上真正值得花时间的，不是马上写第一句，而是先花十分钟搭反对者地图。列出三到五句可能的反对意见，再问它们背后的病根是什么。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然后把这些反对意见写进文章。比如“也许有人认为吃苦耐劳是无效内卷，但事实上，真正的问题不在于是否吃苦，而在于是否把苦吃在正确方向上。”这就是预辩。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这种预设假想敌的手法，不只有韩愈会用。《六国论》开头说六国破灭，弊在赂秦。苏洵马上替读者提出质疑：六国都灭亡了，难道全都是因为贿赂秦国吗？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然后他回答：不赂者以赂者丧。你看，这就是自己设问，自己回答。高手不怕问题，高手主动制造问题，然后控制问题的答案。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这是大家最容易迁移到作文里的句式：“也许有人会认为……但事实上……”。不要小看这句话，它的作用是把文章从单方面证明，变成有来有回的论辩。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前半句让读者觉得你不是没看见现实，后半句则告诉读者：我看见了，但我比你看得更深。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现在我们把方法迁移到一个现代题目上：有人说现代社会竞争激烈，吃苦耐劳已经过时，拼的是选择、资源和运气。对此你怎么看？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注意，今天的作业不是随便写感想，而是必须模仿《师说》的结构来写：开头七步，本论三组对比，再列出至少两个潜在反对意见。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这页是开头的七个槽位。大家写的时候，不要求句子完全一样，但要保证功能完整。比如定义“吃苦耐劳”时，一定要把它和盲目吃苦区分开。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否则你会被对方一句“无效内卷”带走。我们要说的是：吃苦耐劳不是无脑消耗，而是在正确方向上持续投入、复盘和承担成本。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本论部分就按三组对比来搭。第一组，过去和现在。注意不要把过去写成简单体力劳动，也不要把现在写成完全不需要努力。今天需要的是更复杂的耐劳。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第二组，对别人和对自己，抓双标。第三组，把所谓“傻努力”的人和所谓“精明躺平”的人对比，完成价值反转。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最后一步，是列出至少两个潜在反对意见。这里有两个常见例子：第一，苦干会被剥削；第二，选择比努力重要。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我们的反驳不能粗暴。要先承认对方说中了一部分现实，然后指出他的结论过度了。批判剥削不等于否定努力，强调选择也不等于否定长期能力的积累。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同学们，今天这节课的最后一句话是：好文章不是写出来的，是辩出来的。写作前，先把问题想透，把反对意见想透，把对方的退路想透。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当你能像韩愈一样预判对手的招数，再一张一弛、步步为营地下笔，你的议论文就会从自说自话，变成真正有说服力的论证。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0e1cc81c04a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a8f29e4f8a49b9" /><Relationship Type="http://schemas.openxmlformats.org/officeDocument/2006/relationships/slideLayout" Target="/ppt/slideLayouts/slideLayout1.xml" Id="R73a96044bb8749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a96044bb8749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0ff6e17be423c" /><Relationship Type="http://schemas.openxmlformats.org/officeDocument/2006/relationships/notesSlide" Target="/ppt/notesSlides/notesSlide1.xml" Id="R5570d2b60bfc49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ba51f3999427e" /><Relationship Type="http://schemas.openxmlformats.org/officeDocument/2006/relationships/notesSlide" Target="/ppt/notesSlides/notesSlide2.xml" Id="Rbb793c53e7a440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3bc032d6248b8" /><Relationship Type="http://schemas.openxmlformats.org/officeDocument/2006/relationships/notesSlide" Target="/ppt/notesSlides/notesSlide3.xml" Id="Rb349fc4a2a6641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3e1ee56964fd9" /><Relationship Type="http://schemas.openxmlformats.org/officeDocument/2006/relationships/notesSlide" Target="/ppt/notesSlides/notesSlide4.xml" Id="Red0ad864faa944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3bb8a9bd84855" /><Relationship Type="http://schemas.openxmlformats.org/officeDocument/2006/relationships/notesSlide" Target="/ppt/notesSlides/notesSlide5.xml" Id="R8ba981c43f3845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2e11d2d2947e1" /><Relationship Type="http://schemas.openxmlformats.org/officeDocument/2006/relationships/notesSlide" Target="/ppt/notesSlides/notesSlide6.xml" Id="R5999026579204a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13db2829c4388" /><Relationship Type="http://schemas.openxmlformats.org/officeDocument/2006/relationships/notesSlide" Target="/ppt/notesSlides/notesSlide7.xml" Id="R16def6ef0bfd45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b780fc964436b" /><Relationship Type="http://schemas.openxmlformats.org/officeDocument/2006/relationships/notesSlide" Target="/ppt/notesSlides/notesSlide8.xml" Id="R6e73e00aea4240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e61f4ced1430c" /><Relationship Type="http://schemas.openxmlformats.org/officeDocument/2006/relationships/notesSlide" Target="/ppt/notesSlides/notesSlide9.xml" Id="R393c53a0cd6a43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6c6db718c401e" /><Relationship Type="http://schemas.openxmlformats.org/officeDocument/2006/relationships/notesSlide" Target="/ppt/notesSlides/notesSlide10.xml" Id="R3f75ae9438f542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7df61eaf741d6" /><Relationship Type="http://schemas.openxmlformats.org/officeDocument/2006/relationships/notesSlide" Target="/ppt/notesSlides/notesSlide11.xml" Id="R1a6671da6cfa4a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f96a2f4d14af4" /><Relationship Type="http://schemas.openxmlformats.org/officeDocument/2006/relationships/notesSlide" Target="/ppt/notesSlides/notesSlide12.xml" Id="Raa1307fcd70f43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41fdcd9ad465d" /><Relationship Type="http://schemas.openxmlformats.org/officeDocument/2006/relationships/notesSlide" Target="/ppt/notesSlides/notesSlide13.xml" Id="R524d128c6a6f49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6ec0474ec4ecb" /><Relationship Type="http://schemas.openxmlformats.org/officeDocument/2006/relationships/notesSlide" Target="/ppt/notesSlides/notesSlide14.xml" Id="R919039dea4e64af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d8226dca94f54" /><Relationship Type="http://schemas.openxmlformats.org/officeDocument/2006/relationships/notesSlide" Target="/ppt/notesSlides/notesSlide15.xml" Id="R45dd094f397c43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a124e6224423a" /><Relationship Type="http://schemas.openxmlformats.org/officeDocument/2006/relationships/notesSlide" Target="/ppt/notesSlides/notesSlide16.xml" Id="R584ae14247a34c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96d9ab56e4def" /><Relationship Type="http://schemas.openxmlformats.org/officeDocument/2006/relationships/notesSlide" Target="/ppt/notesSlides/notesSlide17.xml" Id="R6c1e3ab08dfd4f4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e8a378cb64559" /><Relationship Type="http://schemas.openxmlformats.org/officeDocument/2006/relationships/notesSlide" Target="/ppt/notesSlides/notesSlide18.xml" Id="R2db03d4ff5ad48f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b84512ce2469d" /><Relationship Type="http://schemas.openxmlformats.org/officeDocument/2006/relationships/notesSlide" Target="/ppt/notesSlides/notesSlide19.xml" Id="R5f982d75e55e451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45742851d4bfb" /><Relationship Type="http://schemas.openxmlformats.org/officeDocument/2006/relationships/notesSlide" Target="/ppt/notesSlides/notesSlide20.xml" Id="R3dfed69968274ad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8ad6eef1c4284" /><Relationship Type="http://schemas.openxmlformats.org/officeDocument/2006/relationships/notesSlide" Target="/ppt/notesSlides/notesSlide21.xml" Id="Rb5ef8b6835d7404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d29ccc0a248e3" /><Relationship Type="http://schemas.openxmlformats.org/officeDocument/2006/relationships/notesSlide" Target="/ppt/notesSlides/notesSlide22.xml" Id="R3504f979df7447b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54040482d4edd" /><Relationship Type="http://schemas.openxmlformats.org/officeDocument/2006/relationships/notesSlide" Target="/ppt/notesSlides/notesSlide23.xml" Id="Rf440614bb1f7483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a5354e6e541f3" /><Relationship Type="http://schemas.openxmlformats.org/officeDocument/2006/relationships/notesSlide" Target="/ppt/notesSlides/notesSlide24.xml" Id="Rdfc555dfafd9416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182afd4ee4344" /><Relationship Type="http://schemas.openxmlformats.org/officeDocument/2006/relationships/notesSlide" Target="/ppt/notesSlides/notesSlide25.xml" Id="Rc98128a605f3406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0addd898c4d5b" /><Relationship Type="http://schemas.openxmlformats.org/officeDocument/2006/relationships/notesSlide" Target="/ppt/notesSlides/notesSlide26.xml" Id="R16e14254235749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A1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D5D4AA-822A-409E-AA0B-E0F1BB28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Classroom Lecture · Argument Writing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DA968-BA91-49A7-ABD2-D0401A30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45 MIN · 01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DC198-4792-4EFB-B763-6E1F3909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Teacher Notes: PowerPoint 备注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78082-EA6E-489E-AF1E-A214BAB8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Han Yu · Shi Shuo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96D30-40D2-4CE5-86B9-85821FBA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63BB6-18E4-446C-91C0-E06572BB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B3E55-2D03-4B4B-A481-351F7C46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41011-5BFD-4B60-BFA5-670E2EC4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AD346-9656-4858-9F67-A94D64AD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BB81AA-8F40-4C99-A172-7FDD3EBA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E69F7-5039-480F-900B-86DA8DAF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25972-51F4-42D0-9507-DEFADCA5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7C2A7-2A37-47CC-A348-A4F5DE80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0F103-4149-4109-BA80-3EB3EA3D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C283F-0E9D-43C6-8894-4820A41C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0DE58-5CF7-4498-9A72-9D378BE6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11086D-C286-4E3D-BE68-5985E842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270A6-5CB4-4761-B7EC-18BB45A5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92A114-3515-46D2-8140-668EABBB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23C9C-C5F7-4B3B-AD4F-4FCC213E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B89F71-6A98-4785-A637-B710FCC4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3FAF60-3B52-4959-8253-B4A56E07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15E75F-2C55-4ABC-9E1E-DB1EF6B3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B980AE-4F7C-4035-97FD-503C3694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82CC52-1843-44A5-A914-169068C3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15E3DC-1244-4DC5-86A8-628EBD36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16127D-DA98-40E7-AAF2-D39FEAD4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8437C0-1680-433B-B1C8-EFB11F34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07D763-0F9F-4F58-91AF-5B83D686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C4AA3E-B468-471D-BB28-526D6EF7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F2B50B-6253-4E1B-BDD2-93E056A9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rPr>
              <a:t>跟着韩愈学吵架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D9E08A-2860-45FE-83E5-7405C561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933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从《师说》看</a:t>
            </a:r>
          </a:p>
          <a:p xmlns:a="http://schemas.openxmlformats.org/drawingml/2006/main">
            <a:pPr algn="l">
              <a:defRPr sz="43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满分议论文的黄金结构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7AEC41-7A74-486A-ABE8-28DD8ADC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790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不是背古文，而是拆一篇 1200 年前的高分议论文。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E3604E-31E5-4042-975D-43FF5435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876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适用对象 · 高中生    ·    三段式结构 / 对比论证 / 结构性驳论</a:t>
            </a:r>
          </a:p>
        </p:txBody>
      </p:sp>
    </p:spTree>
    <p:extLst>
      <p:ext uri="{BB962C8B-B14F-4D97-AF65-F5344CB8AC3E}">
        <p14:creationId xmlns:p14="http://schemas.microsoft.com/office/powerpoint/2010/main" val="19192468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DF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4CD64E-BFA3-493C-978C-72FCA3C7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Hook · 考场如战场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AB098-C2B1-41CE-85F9-ED5B6C90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02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1FA5C-2BE8-46F8-8C6E-35CAD994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Opening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11D9D-6697-4115-AE4D-38DC9CEB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Debate Before Writing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FEB95-ED58-438A-89B1-51102390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49500-0383-4F29-B370-55ECC351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E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B734B-8856-4722-8637-B15CE2FE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8CE4C-17ED-4B1D-9079-D9352AB0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D01DA-9501-4A34-89E4-351F882C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5E944-2A02-4F05-B2F0-E31F97B7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7A411-3633-4B8A-B209-2A044972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46672-4179-4EF9-8E41-A264E422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48046-91E0-451B-8A8B-F9984E76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F9AD8-E2EF-4E49-A960-A4C63671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C7BE9-BC68-421D-8DF1-F7834A5E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8298C-9C28-4EF5-9BFD-2B50EC05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B1A8A3-C2A6-461E-82B1-A87F0429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201BA-0A22-468A-9626-60DEAAD8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611A3-56F8-4109-9710-E504614B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585F2-F1E0-483A-BE54-9181683B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C30F29-3D58-4A5F-AE9C-70C0C200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6CF2B0-8BE7-462A-996B-8543944F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950984-F49A-4B3A-AB59-480E6529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FD2C6D-3BC0-4CBF-A161-148796A6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40C1C3-21FC-483B-9D59-74FAC62C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84FEFF-8523-4265-BD25-7B4B0EC5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383EF1-141D-4658-8BD6-402A2935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BF44C9-F642-4808-9AA2-3D785743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9C5E1F-1A79-47FC-B799-A20EE66D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ABFC7-58DD-4D2C-A924-DA9BB2EF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4019EC-5D3B-47CE-906D-A7DF0C2B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rPr>
              <a:t>先把对手叫上场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C0A464-757D-4E69-80FF-0FA23F3A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933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51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吃苦耐劳</a:t>
            </a:r>
          </a:p>
          <a:p xmlns:a="http://schemas.openxmlformats.org/drawingml/2006/main">
            <a:pPr algn="l">
              <a:defRPr sz="51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51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已经过时了吗？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ECD49D-22BD-4868-8E43-9EE70139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790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如果有人说：现代社会拼的是选择、资源、运气，吃苦耐劳只是无效内卷。你打算怎么反驳？</a:t>
            </a:r>
          </a:p>
        </p:txBody>
      </p:sp>
    </p:spTree>
    <p:extLst>
      <p:ext uri="{BB962C8B-B14F-4D97-AF65-F5344CB8AC3E}">
        <p14:creationId xmlns:p14="http://schemas.microsoft.com/office/powerpoint/2010/main" val="4365562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DF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8EEB47-0BA8-439E-A0FE-9CF154B6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Diagnosis · 常见病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4CFCE-4F11-46FF-8EC0-0F7F08D8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03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8BB6B-D757-4A35-8019-E21C85C0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Page 03 · Problem Diagnosis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51305-FCE5-4E23-8B00-6F2102E0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Structure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AED51-CEE4-4A21-9F95-BBF743F8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BD693-DECD-498B-AD66-0BD80783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2A394-92FD-409F-86BA-7AB57186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E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3CBD6-0312-4244-9258-34B458A3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03A51-9F68-4DD0-A08D-F0A69E9B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7A019-DBE0-4D00-A7DE-EF371834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0CD69-D3DE-4DD0-8F78-A62080BB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C004A-8852-40E0-9FF2-A152F2F7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6D32A-512D-423F-AF9B-A59299C6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49768-B516-46E9-AC39-24091662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94CA8-3FD1-46EA-B68F-34673112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7B5BE-65EA-41F4-AACA-1A472B40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5FD11-FF8F-4372-A037-C7D5660D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6AE42-F7C7-49F8-BE43-11AC4C19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5553D-6CE3-43F1-9D8A-37998A77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A9FCE7-6785-487F-83DA-50F91155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B99DAF-FD67-4931-A340-05EBC160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F9CD41-5567-466C-9DB6-81E7835F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7D784-240C-4025-9E63-4AACFFCF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951C97-9700-47B7-9C4F-5A8B560D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9A1A28-2FE7-42D0-A03A-E4493804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D80B8A-F38B-47CD-AFA0-01B2F2A1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479946-14E8-45B9-B0FD-ACCD043C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522B75-1DC8-42E5-A419-37E88653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D5E052-1269-460E-B26E-CCC4CB39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F0DED3-582A-4654-8DD5-60AC8817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099096-BC56-4B25-BE61-CC9E8E08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rPr>
              <a:t>很多作文输在这里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F4799E-933C-4087-BBC5-B82B3B45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8858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46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议论文三大毛病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A818A9-41FA-48D2-87C5-FA193239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D161D6-2CAE-4D3C-9FF7-F67F04BC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6743CD-B2A5-4058-9970-A0E4E934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开头磨叽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2198B4-DD79-46A6-A62A-B574F87F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3333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铺垫太久，迟迟不亮观点。阅卷老师看了半天，还不知道你要证明什么。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1BE2FE-4D5F-4B8A-979F-564ECA64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DA3C85-FF1E-4ADC-9437-BE353AE4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861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7296DA-FEBD-4495-A375-352353BA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861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中间打滚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2E1DE8-E087-41F9-A54E-22366264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81450"/>
            <a:ext cx="3333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只会重复观点，论据像散沙，没有层次，也没有推进感。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E32788-135A-4E46-B3FA-01E135B1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67E04E-8C3D-4A74-9001-87E62C11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861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B10B6E-8140-4097-B0C0-88DF7FCB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结尾无力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1898FD-1EAE-41DD-BF92-7E70E3B0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81450"/>
            <a:ext cx="3333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最后只是喊口号，没有完成回扣、升级和收束。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D88C8A-EA87-4C39-A29F-945960F0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D69285-0B43-49D2-8C17-C51A9E57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6735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更关键的问题是：很多文章只写“我要证明什么”，忘了写“别人会怎么反驳我”。</a:t>
            </a:r>
          </a:p>
        </p:txBody>
      </p:sp>
    </p:spTree>
    <p:extLst>
      <p:ext uri="{BB962C8B-B14F-4D97-AF65-F5344CB8AC3E}">
        <p14:creationId xmlns:p14="http://schemas.microsoft.com/office/powerpoint/2010/main" val="575922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A1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6529B2-30EF-4AC0-8F1A-A27825C7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Context · 韩愈的对手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DA7FA-3123-4CF3-9E02-CBB4DF76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04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88E29-A810-45A7-92A6-62F0003B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Page 04 · Historical Opponent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31564-6734-4B26-8E02-BD072D21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Wrong Climate, Clear Target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F6B6F-B372-4B3A-9F71-8D251FC0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6049A-B1F7-4FD6-9CE1-7B0535E9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AF087-AB8B-48B1-87CF-C2A01311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CC4B8-D48B-4F51-9FDF-5510142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16CE8-ADFC-45FD-8690-5E6EE6F0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9431E-8B8E-4AE2-BC88-3CB3EA29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CBB93-289D-4ED8-BBD0-DBAB289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8167F-1332-4FF6-BC72-4988A066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203C4-3D00-42ED-84C8-14702F60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DEF8E-0A05-4F4C-88BA-5264BAF7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33419-0D7B-487B-91E6-0707D955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35FB3-C80B-4D20-B530-53C91D85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C3ECF-D12C-4F85-9CBA-820C5283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6ECDF-9A9F-42DE-8DEE-05367007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7ADE2B-0064-4E74-90B0-774EDB5B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8AE131-3DCC-4744-BC3C-ECD8DC35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6A6BF-CD16-428D-9EBA-5895E563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2C00BC-B7D8-486C-B598-BB36D25C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3507C4-0418-4215-BB69-32D48ABE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59BD1-349B-4809-83EF-EB112729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4B39F8-C897-4DDB-A45D-0C52C142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70C8D4-6678-4288-807A-FE6E8AEB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71C8F8-7EED-4670-AA4B-25CBA4E2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59B94E-22D3-4269-A487-0A2A985B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A2A2E9-3D67-457A-B069-5C673F8C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6C2075-9A4A-4550-9705-59E803FC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6B8AF8-B015-4766-AF93-524DC855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552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rPr>
              <a:t>1200 年前的现场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9D3683-705D-4F23-9EE8-BA2DED14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33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48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耻学于师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67263C-4E51-4EE4-AB9F-A51C6690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590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当时士大夫阶层流行一种风气：向老师学习，尤其向年龄小、地位低的人学习，很丢脸。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829881-89CE-4317-8A32-49F04BF3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590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D6ECA5-1EFB-46AA-83FE-8D80D11B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006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韩愈不是温柔劝说，而是把这种风气当作错误观念，正面拆解、逐层驳斥。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48EA8B-7602-49BC-AC4E-4F777BA9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429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C9BDA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BFE213-F5C9-4ABC-A18F-7B39B5B0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09750"/>
            <a:ext cx="2762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37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从师</a:t>
            </a:r>
          </a:p>
          <a:p xmlns:a="http://schemas.openxmlformats.org/drawingml/2006/main">
            <a:pPr algn="l">
              <a:defRPr sz="37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37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等于</a:t>
            </a:r>
          </a:p>
          <a:p xmlns:a="http://schemas.openxmlformats.org/drawingml/2006/main">
            <a:pPr algn="l">
              <a:defRPr sz="37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37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丢人？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4B8B52-4BBC-4F2E-A756-F02F2D46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14800"/>
            <a:ext cx="271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EAD4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F7EAD4"/>
                </a:solidFill>
                <a:latin typeface="Noto Sans SC"/>
                <a:ea typeface="Noto Sans SC"/>
                <a:cs typeface="Noto Sans SC"/>
              </a:rPr>
              <a:t>韩愈要做的不是“解释老师很重要”，而是摧毁“向老师学习可耻”这套逻辑。</a:t>
            </a:r>
          </a:p>
        </p:txBody>
      </p:sp>
    </p:spTree>
    <p:extLst>
      <p:ext uri="{BB962C8B-B14F-4D97-AF65-F5344CB8AC3E}">
        <p14:creationId xmlns:p14="http://schemas.microsoft.com/office/powerpoint/2010/main" val="1852710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DF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79DF98-06A3-44F9-AF32-DAAD99AB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Structure · 全文总览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E1485-D43E-4574-BA2B-5CBDD3EF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05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2B6AA-CBBF-4309-8D12-34F7155D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Page 05 · Macro 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18EFC-9CB4-4AFF-A847-E848D86B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Argument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654A8-F3D7-49F5-BD88-B212F412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5AF24-87B6-40C0-A7E7-EA5F3562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76A6D-6E48-4E65-BCE2-9A67549A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33B0B-C110-4ECD-9272-8507C51D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D067C-94EE-4FF9-83A5-EF75D4BD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E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3E3CB-5B5C-4620-8638-EE9AC71B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271A4-8BEB-4FC1-B2FF-575563AB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6CD88-EC43-4EA3-80A8-E795F97B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6E705-1A99-443B-8C9E-0818CEAE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31F2D-5F0C-4C28-8A1C-F9C6B357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34387-0E4E-46B6-9238-206985A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83A2C7-7585-4D2E-ACF4-6738B1CB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37EC10-1148-458C-A5EA-6452A3AB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EF9B66-ACF6-448F-819C-A0E71EE6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DA7D4A-5DB0-470B-B01C-81128421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4D00A-D9CC-45E1-9879-2AEDAAFA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E66BDE-CFA6-4C1C-9FD8-CBC04F00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3E6978-5620-43C9-BC0F-62668AE2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197945-8150-4251-A864-FECF155B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8E34AB-1E9E-41F3-B10C-444A3F99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066937-38C7-4B1B-8373-6A025BB5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B5C0A3-FD45-4968-8280-B063E926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ECBAA1-34DC-4425-B71C-9DCE1D0A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DA07E-3EF7-40F5-9640-765C7A0F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ACC9F5-C8F3-4E05-997D-5C32277D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E6B6AE-2CBB-4E8F-8B81-0EB97559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4E99F5-947D-40E6-8CD7-0E4C464E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rPr>
              <a:t>三段式议论文的标准答案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083018-ABED-4FEF-B030-218161FD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8858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立骨 · 析理 · 证例 · 收束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4C894E-6EFA-4DDA-A8E8-10A2EC33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69A233-9FF8-4BE3-9779-E41C31A0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47975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结构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A985C4-78D7-4CB9-A99E-9E22398E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47975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《师说》段落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E2F924-8BDE-4578-8451-72CFF294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47975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核心任务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FD46A6-2AE1-498C-987A-71E55CFA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47975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写作启示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ABBFD7-8D13-4CFE-9953-9B064C27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737593-B3B3-4B8D-9A57-791AE703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05175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引论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2D5506-7579-4402-A88B-C86A2939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05175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第 1 段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B1A226-8812-42EA-B843-0E1BE576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05175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立骨：提出中心论点，下定义，亮标准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B309FE-046D-4FFB-9B57-EB923B4D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05175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开头要直接搭起判断标准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FA9663-E2C5-4573-8566-139FC978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433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8558ED-BB7E-4876-B908-84A623D9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本论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EFF2BF-45CC-48BA-974F-7959BF69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57625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第 2 段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757547-FB48-4FC2-ABD6-466483F5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57625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析理：用三组对比批驳错误现象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46684A-4E16-4CFC-9B1A-F165FC7D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57625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主体要制造逻辑压力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38BB3F-8050-4432-B4F9-C474866F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957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9CF1B4-8807-4BB3-BAD4-52456A46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0075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深化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F7C78F-9837-489A-AE5B-0952D819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10075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第 3 段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7AEA59-B5DC-4E65-9C43-6E9DC5B0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10075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证例：举圣人例子，进一步论证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760FCD-6D06-4377-8AD1-38F6ABAD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10075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例子服务于驳论，不是装饰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B5A268-D356-4FE7-94FA-B66590D6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482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3DDDA1-BAD0-43AF-904F-AA0A3B76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62525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结论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695AF8-95B7-4F6A-9F4E-0795C5A0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62525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第 4 段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5324BB-4498-4796-AABD-7593A9C5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62525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收束：重申主张，交代写作缘由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F5051F-668E-44C9-837E-DDB73B19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62525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结尾完成回扣与落点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17090DD-2869-4B77-9B00-A6AA6A36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885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韩愈像下棋一样，提前预判对手每一步，然后一次性布下全篇逻辑阵。</a:t>
            </a:r>
          </a:p>
        </p:txBody>
      </p:sp>
    </p:spTree>
    <p:extLst>
      <p:ext uri="{BB962C8B-B14F-4D97-AF65-F5344CB8AC3E}">
        <p14:creationId xmlns:p14="http://schemas.microsoft.com/office/powerpoint/2010/main" val="5266265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A1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70E32D-F33B-4B25-B4B4-B4D76D81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Act I · Opening Paragraph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6DD02-B362-4804-8964-BA524A67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06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0C232-4644-47FA-AEF3-09FBC354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Act I · 立骨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77E4F-1B10-4E12-AC06-BE91C35C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Definition, Premise, Standard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3D891-3DC7-4E93-B601-4B193923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F3CF2-C8AB-4A20-8BDB-764E14E2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7236F-5A71-43C9-9210-380ECB18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D021C-C167-4F71-9C8B-6FC4831E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80C2F-F064-4A04-B1C2-E8523422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3A29E-58FC-4C03-8BC0-A79EB1A7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EE861-4E08-4563-940F-06C738F5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C16EA-EEB0-4BC1-B38A-E7E526FA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B40D1-9414-4A72-BEDD-EA4BB35E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1AAF6-6B1B-4CDB-88B9-94495B03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F29D6-D837-4C34-B3EE-A13D9B72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51567-DA2E-4628-BBFA-357561D7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E0C33-1E66-4EFE-8CF8-081E94E5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2A385-4869-42BC-8EE1-8C041995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97A43A-9789-4715-8C92-787CC0D6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23497C-335C-48DE-876B-44C56486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3CA3FC-95BF-445A-8AF2-4F286C61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D9DD02-2474-4C05-81BD-D1BE3BDC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F27EFE-3519-471C-AF9F-B5ED12A8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68CB17-50D9-4740-A00A-AF59222A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1E06F2-C326-43B8-A8FF-57AE37D5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5EDEE2-8976-4651-AEA6-EB544437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1B2404-406A-43B6-BE42-D1510200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3D78E6-FE4E-4008-A35B-C6048EA7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C92DB0-1E7C-48E0-9FC0-76A91273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78E34F-9B32-4098-9CB7-41C5EB8B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B434BC-F89D-4586-BFEB-32E3F081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rPr>
              <a:t>第一段精讲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1FC1D6-BB28-4D7E-96E3-A6D4A9B1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933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51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七句话</a:t>
            </a:r>
          </a:p>
          <a:p xmlns:a="http://schemas.openxmlformats.org/drawingml/2006/main">
            <a:pPr algn="l">
              <a:defRPr sz="51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51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七种立论技法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A45C4E-511E-4390-837D-A86BF738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790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这一段最值得背的，不只是原文，而是每句话背后的写作功能。</a:t>
            </a:r>
          </a:p>
        </p:txBody>
      </p:sp>
    </p:spTree>
    <p:extLst>
      <p:ext uri="{BB962C8B-B14F-4D97-AF65-F5344CB8AC3E}">
        <p14:creationId xmlns:p14="http://schemas.microsoft.com/office/powerpoint/2010/main" val="8585857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DF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992F0F-1BDB-4222-A3B1-148DEB06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Text · 第一段原文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33714-D4C2-4EC0-9E2A-9753731D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07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7AFCD-AE6F-4603-A5A0-504AD5CD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Page 07 · Seven Sentences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3BFCA-25D5-4F40-84D7-76C548C1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Every Sentence Has A Job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ABE2D-A493-43A6-916C-82B3AE53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3A7E4-4D33-41FD-B449-1F58549B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9252F-CD69-4D03-9C19-09B851C8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D8E5B-030A-4344-839C-D90613CE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B5F13-E576-406F-8498-BF3D821A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7D8C5-029D-43F0-939C-98EE6855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C347C-E12E-4AC6-9770-692211B5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E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D3464-6D39-4A61-8308-74C28E5D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E5406-2B40-43AE-8182-66E7C07E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FEB79-C353-4A84-B3AC-D5D881E6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8994C-79B6-4499-921A-D20109B5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DA151-51A8-4E18-9B4F-484FF90D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48AA7-CD92-4259-9F1D-3C4D812D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A0035F-22A8-4875-B5DD-D8EE6F19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06ED92-506E-4453-8A59-49B4AED5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FB3DE6-0821-4A44-BA34-96E26CBE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E060EA-672B-4C39-ACA1-A525C5EA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164929-4061-4E79-88C4-F31A30CC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9C9FF6-F8BF-435D-8EB1-F8340F18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C2DD16-284B-4089-A110-06A7D7E8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E74182-4C13-4AE2-9043-4EBAB77F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3FF04E-8348-4328-9592-CF02885C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6F4FC-92E0-4C49-A48A-1A9AFEFA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C7DC56-A5E3-41BA-BC54-77F46BA9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E3C0BD-4415-48F3-9311-92A190D0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D2D438-7218-431A-B9B5-A31E1349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55C1B0-01B4-4DF9-A511-6EECEE76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rPr>
              <a:t>先看原文的骨架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3E4D0C-4EF0-4A34-90E2-2351A514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8858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40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每一句都在干活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278A20-9448-490E-AA69-20CCBA71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D17485-A7C9-47EF-9B5E-B5D8BD49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45379B-FE50-450B-A6B2-0BD94CBC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1460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古之学者必有师。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34CEC7-365F-4A22-B71E-9DEE0FBB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527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论点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DC7038-E53F-400E-B1C4-18D4E686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58A17C-F07E-4418-8816-C9F958E7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2AA4CE-0BE7-4507-84DC-49EBCBF7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62275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师者，所以传道受业解惑也。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10228E-EF8E-43F4-B867-A568666C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0037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定义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02B45B-89FB-4777-B99E-FE1DF231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7D013E-D1BF-4EA0-BD05-0C9850A7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DCEBDD-80CE-4CE8-85BF-87F8C95D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995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人非生而知之者，孰能无惑？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51D0BE-4330-49DA-87AC-884F6683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480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前提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A37ED5-87C3-485D-A307-EC592642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A047C6-4BE3-43B3-8E3A-392023D4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031B2B-036A-40A1-9818-69760791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惑而不从师，其为惑也，终不解矣。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95B003-288A-4C17-B570-4F51C057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9572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后果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01B414-9200-4F76-AA35-7498BCCD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D68BE9-E800-4794-8D4C-BA3D38C2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4D5E02-0F73-4083-B2D6-980BBE43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0530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生乎吾前，其闻道也固先乎吾，吾从而师之；生乎吾后，其闻道也亦先乎吾，吾从而师之。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24C3EB-6AF5-4668-8C43-A4F4866E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434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标准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2B1B84-28D4-4EFE-A9ED-4FA67228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57CEA0-13ED-4E0D-AB43-DE2C6749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72025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A66038-F2FA-49DF-AA85-4BDBA4B4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52975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吾师道也，夫庸知其年之先后生于吾乎？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254472-E3BF-4F3F-A8C5-0AC6FDD3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9107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驳疑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AA0F24-37DA-41CD-B7EA-BA775719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BA5BF4-C3FA-43F4-B9CC-C24DBB41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698FB58-A67A-4406-B624-24DCE918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0065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是故无贵无贱，无长无少，道之所存，师之所存也。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8776140-66FF-480C-8526-8934E73E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387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升华</a:t>
            </a:r>
          </a:p>
        </p:txBody>
      </p:sp>
    </p:spTree>
    <p:extLst>
      <p:ext uri="{BB962C8B-B14F-4D97-AF65-F5344CB8AC3E}">
        <p14:creationId xmlns:p14="http://schemas.microsoft.com/office/powerpoint/2010/main" val="20198324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A1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905798-F5F1-416B-914A-D027A093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Method · 七句技法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378AA-74B3-4E62-BD40-F7A57D6B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08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C6822-C46D-4003-A658-568C8411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Page 08 · Writing Techniques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0CE88-3B73-4E10-9060-EDAE5316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Transferable Pattern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58854-69EE-48F1-80D4-BFC7FFF2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0CA7B-BFFF-43A7-B227-FBE825AF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65883-EA69-4E70-A41D-C4DC95E9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A5E9C-B8EC-4312-8528-4AABC617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977FA-B6E8-4E45-A4AA-0904680C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1626E-35EC-48CB-A2B7-9193B039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79D79-7C62-43D0-A531-CE57B4DE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206BB-0849-4C06-B8CD-11E0831D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08E59-D9F9-4779-8CC6-47116310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7FDC5-D1F3-4B1A-A8D8-E612A583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C08D2-9852-4D15-8433-0BB25E1D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59768-968E-4985-98DF-879A5F27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5FF17-7105-4161-9877-9E2B5240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E9B99-F312-4307-9E0B-4AE33D24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FDCE1-A029-4B8C-A8B0-4BCD918E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91F79-09FB-411F-8CFA-0EF29B6B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5D6DA0-7C79-41DE-8B2D-123E65C6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3CB8E8-8DA6-4E2E-B3EA-A7C6A60A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803CA4-636D-47BF-9D01-6A462DC2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3FEF0-926B-44CF-ABE8-550ACA77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7A1931-68FD-41D0-8E17-D22DAF62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FF2B1F-7B01-4253-BDE8-91BD939D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A976ED-0B73-42A2-BF06-DF6BA54E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526A75-654B-4CB2-8284-7E3FEE17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4FD7E5-C4E0-4CD6-B08C-78E2DF77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04F354-2D58-42E0-B208-B495CDF6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3DCDFC-2FCF-49B1-8C9C-D625A5B4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rPr>
              <a:t>可迁移的写法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769CCF-467C-41DD-B2DA-0F076801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8858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40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不是翻译，是拆功能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A3CEED-2972-4321-ADE8-F1D81D23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40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7"/>
          </a:solidFill>
          <a:ln xmlns:a="http://schemas.openxmlformats.org/drawingml/2006/main" w="0">
            <a:solidFill>
              <a:srgbClr val="C9BDA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F3769B-4844-4C39-8921-E149DBF5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CAE98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>
                <a:solidFill>
                  <a:srgbClr val="BCAE98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E55F2A-1F3E-453E-BD50-59034E83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19425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开头亮观点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1A2047-9FA6-4273-8C19-A269A0D8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7EAD4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F7EAD4"/>
                </a:solidFill>
                <a:latin typeface="Noto Sans SC"/>
                <a:ea typeface="Noto Sans SC"/>
                <a:cs typeface="Noto Sans SC"/>
              </a:rPr>
              <a:t>借“古之”“学者”带出权威感。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BAEA2D-8893-49AC-BF55-2A073D02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24125"/>
            <a:ext cx="140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7"/>
          </a:solidFill>
          <a:ln xmlns:a="http://schemas.openxmlformats.org/drawingml/2006/main" w="0">
            <a:solidFill>
              <a:srgbClr val="C9BDA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257A00-EBA5-4A3F-ACC5-7D96BF68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765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CAE98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>
                <a:solidFill>
                  <a:srgbClr val="BCAE98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B48D9E-F19C-4857-A38F-34CF5774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19425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关键词定义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6569F6-5327-4E00-A1CF-A162A737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1472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7EAD4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F7EAD4"/>
                </a:solidFill>
                <a:latin typeface="Noto Sans SC"/>
                <a:ea typeface="Noto Sans SC"/>
                <a:cs typeface="Noto Sans SC"/>
              </a:rPr>
              <a:t>先界定“师”，后面才有判断标准。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EDF4C4-C54A-4261-868E-CDE2FEF3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24125"/>
            <a:ext cx="140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7"/>
          </a:solidFill>
          <a:ln xmlns:a="http://schemas.openxmlformats.org/drawingml/2006/main" w="0">
            <a:solidFill>
              <a:srgbClr val="C9BDA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C98EB6-0BDE-44FB-A56E-84146753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765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CAE98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>
                <a:solidFill>
                  <a:srgbClr val="BCAE98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53D735-F9A0-455E-A6AF-2EAB9C9F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19425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建立共识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DB2886-A8BD-45DC-8F95-5D84BB5A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1472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7EAD4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F7EAD4"/>
                </a:solidFill>
                <a:latin typeface="Noto Sans SC"/>
                <a:ea typeface="Noto Sans SC"/>
                <a:cs typeface="Noto Sans SC"/>
              </a:rPr>
              <a:t>从人人承认的事实出发，降低阻力。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C1C790-5C05-495F-ABAA-D979A6DF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24125"/>
            <a:ext cx="140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7"/>
          </a:solidFill>
          <a:ln xmlns:a="http://schemas.openxmlformats.org/drawingml/2006/main" w="0">
            <a:solidFill>
              <a:srgbClr val="C9BDA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7B6F95-B15E-463A-947D-69EE13E3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765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CAE98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>
                <a:solidFill>
                  <a:srgbClr val="BCAE98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F87EC9-8D76-417E-84D2-0FAB668D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19425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推出后果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5BFDF5-369F-4CEB-85CD-954324EB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1472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7EAD4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F7EAD4"/>
                </a:solidFill>
                <a:latin typeface="Noto Sans SC"/>
                <a:ea typeface="Noto Sans SC"/>
                <a:cs typeface="Noto Sans SC"/>
              </a:rPr>
              <a:t>如果不从师，疑惑就永远不解。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C26F98-310D-483D-A45F-E1667DC3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24125"/>
            <a:ext cx="140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7"/>
          </a:solidFill>
          <a:ln xmlns:a="http://schemas.openxmlformats.org/drawingml/2006/main" w="0">
            <a:solidFill>
              <a:srgbClr val="C9BDA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5EF1BB-5451-45BE-ACB6-38E9A84B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765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CAE98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>
                <a:solidFill>
                  <a:srgbClr val="BCAE98"/>
                </a:solidFill>
                <a:latin typeface="Noto Serif SC"/>
                <a:ea typeface="Noto Serif SC"/>
                <a:cs typeface="Noto Serif SC"/>
              </a:rPr>
              <a:t>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A1D02F-AF70-4066-AC19-3666CEC4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19425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验证标准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4BF6A6-944F-4817-8FB0-4B3914AC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1472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7EAD4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F7EAD4"/>
                </a:solidFill>
                <a:latin typeface="Noto Sans SC"/>
                <a:ea typeface="Noto Sans SC"/>
                <a:cs typeface="Noto Sans SC"/>
              </a:rPr>
              <a:t>前后两种场景，归到同一结论。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A18C49-BF2F-4DE8-A74E-03AAD080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140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7"/>
          </a:solidFill>
          <a:ln xmlns:a="http://schemas.openxmlformats.org/drawingml/2006/main" w="0">
            <a:solidFill>
              <a:srgbClr val="C9BDA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B925E1-0692-4480-9BE8-057213B9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765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CAE98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>
                <a:solidFill>
                  <a:srgbClr val="BCAE98"/>
                </a:solidFill>
                <a:latin typeface="Noto Serif SC"/>
                <a:ea typeface="Noto Serif SC"/>
                <a:cs typeface="Noto Serif SC"/>
              </a:rPr>
              <a:t>06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9E5A0F-4B37-40B7-A18C-07D52490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19425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预判反对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21BB04-C751-4DE0-9B49-5B0C124A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1472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7EAD4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F7EAD4"/>
                </a:solidFill>
                <a:latin typeface="Noto Sans SC"/>
                <a:ea typeface="Noto Sans SC"/>
                <a:cs typeface="Noto Sans SC"/>
              </a:rPr>
              <a:t>主动回应“年龄先后”的偏见。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B22CC5F-7BAD-4C87-9ACB-93A8272E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24125"/>
            <a:ext cx="140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7"/>
          </a:solidFill>
          <a:ln xmlns:a="http://schemas.openxmlformats.org/drawingml/2006/main" w="0">
            <a:solidFill>
              <a:srgbClr val="C9BDA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1228131-AB2B-4F69-BD72-59E5A7CB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765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CAE98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>
                <a:solidFill>
                  <a:srgbClr val="BCAE98"/>
                </a:solidFill>
                <a:latin typeface="Noto Serif SC"/>
                <a:ea typeface="Noto Serif SC"/>
                <a:cs typeface="Noto Serif SC"/>
              </a:rPr>
              <a:t>07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3D99BC0-8B99-4119-9527-66C7ABB3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19425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总结升华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227FB1-DD7E-42F3-9C4A-8B7B5E04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1472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7EAD4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F7EAD4"/>
                </a:solidFill>
                <a:latin typeface="Noto Sans SC"/>
                <a:ea typeface="Noto Sans SC"/>
                <a:cs typeface="Noto Sans SC"/>
              </a:rPr>
              <a:t>从具体择师，上升到“道”的原则。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6173D1B-CD45-41AA-B0C9-989D4955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914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59EEACE-D86B-44C1-9FCA-A90270FC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866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一句论点二定义，三设前提四讲弊。五举场景六驳疑，七句升华收全意。</a:t>
            </a:r>
          </a:p>
        </p:txBody>
      </p:sp>
    </p:spTree>
    <p:extLst>
      <p:ext uri="{BB962C8B-B14F-4D97-AF65-F5344CB8AC3E}">
        <p14:creationId xmlns:p14="http://schemas.microsoft.com/office/powerpoint/2010/main" val="3290922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DF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1372FF-C434-40D4-A0C3-A291B371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Formula · 开头流水线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9EC02-AFC3-4E0E-8D8C-E1DC219B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09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BFD28-B50F-44E4-ADB3-FECE2899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Page 09 · Opening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9E2A8-348C-4C74-B032-B35F9B34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Opening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58E2D-2F57-41DD-B2B7-B4DC4478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9AE2C-57B8-43F8-8EE5-97A10BEE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41081-9BA7-49EB-BAF7-3FDCFBB4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A323E-8CD6-426F-89F5-50E17AA7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3147A-6A7B-408E-8A60-3234814A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0F608-5B3C-4D71-9D83-7CAF8644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2CDF2-0940-41DA-98E7-B4FF6BF2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4552D-EA70-4584-8430-C538FAE6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A42E1-2F9B-43A1-BD32-5CAE9370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E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22572-AE82-4205-B8B5-D0721B64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42151-788A-41F2-B07A-6D8278A5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DAA97-3B43-4939-A429-8FD607F5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A692E-CC1D-435D-8198-088FBA55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F70DCA-5571-4476-A48E-404DCFAA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E9A67F-1DD0-4325-B351-E52AAA05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C06D6-4B02-4630-B04C-8C3425F9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95DC53-D961-4A6B-89AB-7C3A5098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DA2AB0-370F-4848-AC07-A8A4E87B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E4B4EE-99F7-4752-B269-A306BEEF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2798C7-AA92-48C6-8ABA-EA15ACF7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CB9643-D284-4F9B-B9CC-B5F5CE09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9F2DCC-A9B4-4C0E-8E7D-97F60733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CA0BD3-4EC2-49AF-BA8F-E7FBECFC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6A4FD8-6A96-4001-9A76-0C901FB7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96EDF2-ED34-4DDA-90F4-7AA72E57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B08DCD-1099-4CCA-B057-B3753A4D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3C67E8-93B5-4599-A96F-D134D585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rPr>
              <a:t>把古文变成考场动作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B69FCB-2EA8-472C-83BC-E0734C2D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8858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七步写出一个硬开头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52174F-82DD-4D41-BE0C-9600FC3C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7BC2F1-0FFB-4654-AAD1-5201FC13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647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Opening Paragraph · 前四步先立住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E6CFD8-A7D4-4938-B5BF-DA886313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255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06186A-5EE6-43E0-ACD3-07A3ABFC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26A3A7-73B3-47C0-9158-8487413E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亮观点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40246F-9092-4068-8D9A-6A9D37A4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2552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先说你的判断，不绕路。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12B535-BD04-48B2-95DE-0596E60D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71800"/>
            <a:ext cx="255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3F1686-32FB-4F94-BB0A-5E0D90BD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432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C2B4AE-C6A7-4FB2-9F17-91F9BD36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290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下定义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6FE751-41C6-4EB5-946D-3F59ADFA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71900"/>
            <a:ext cx="2552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把关键词说清，防止偷换概念。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8FEEB8-9A98-404D-AA51-3385DA8C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71800"/>
            <a:ext cx="255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BDD475-A6A0-4038-A4A1-BB9B8342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B79EFC-82D6-47D0-B6EA-F061164C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290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设前提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988F7C-17B2-47F4-BA06-CFE1908D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71900"/>
            <a:ext cx="2552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找一个大家承认的共同事实。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FACD9C-88A8-4A4C-91E5-22B756E4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71800"/>
            <a:ext cx="255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6FF237-900D-494D-AEA4-6195F807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B09430-59F1-4A9B-B013-FCA23FCE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讲弊端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F9C828-F0C2-4F6D-B043-3195D5C4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71900"/>
            <a:ext cx="2552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说明不这样做会付出什么代价。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0C30F7-1BD7-4803-B481-29068B11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E77022-9C50-494B-B655-3036B16F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647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Opening Paragraph · 后三步完成封口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482CFB-1256-4A12-8D3A-6ED225D4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345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52B64A-3B8C-4FD2-AC18-5EA1EED3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82DC36-5C1B-49C8-B1FD-B0B8457A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345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举场景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B9B216-ABAF-4D52-9561-EF95035D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67400"/>
            <a:ext cx="345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用不同场景验证同一个标准。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7C6492-AEAC-4415-BB13-0BC9385D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5067300"/>
            <a:ext cx="345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CEE80E-0436-4DF4-8FAD-D95236D8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52387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4246F9-29A8-45D0-BB27-90CCA479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5524500"/>
            <a:ext cx="345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驳偏见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14BAD30-C856-4636-A792-70D8A9A8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5867400"/>
            <a:ext cx="345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主动回应最常见的反对意见。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D24D33C-9C0A-4392-B983-FD97DF2F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5067300"/>
            <a:ext cx="345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E0F0339-376B-4F76-AA51-6FE8B3C1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52387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A30511D-DDB4-4CA8-93A2-4B030A28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5524500"/>
            <a:ext cx="345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升华句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6CA34AC-0EB1-42A1-9ABE-2F8309E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5867400"/>
            <a:ext cx="345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把具体观点提升成通用原则。</a:t>
            </a:r>
          </a:p>
        </p:txBody>
      </p:sp>
    </p:spTree>
    <p:extLst>
      <p:ext uri="{BB962C8B-B14F-4D97-AF65-F5344CB8AC3E}">
        <p14:creationId xmlns:p14="http://schemas.microsoft.com/office/powerpoint/2010/main" val="1666385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EDF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A3B264-7152-4F4C-8BE8-6934CE5D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Act II · Body Paragraph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27DC9-1FE5-4664-B3E6-31F71D06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10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8017B-B387-4717-A7DE-DE3BA8E4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Act II · 析理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07E56-425C-49AA-968E-0015F591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Contrast As Pressure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C436F-5BFB-48D7-B27F-ED1EA9F6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46728-0843-4A10-B708-F398657B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4A4E8-437E-4A4B-BC80-FDC869AF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225B6-7896-4D59-9D07-DCACBC1C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0FD5E-D02B-477B-8354-D81AFACD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DAF1D-B094-4B1B-BAED-62774F26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727F3-098A-488F-A2B0-941BFCE4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14CF6-233E-451F-888D-AC6A39DC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2F869-FE65-42C1-AEF0-A0605886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B94A41-782E-4A4F-88E0-6AAA0CB3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E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2FA208-6C51-47DB-B9ED-D90B4689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0C09B-43D2-42BB-B0BB-0402B5D2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F54486-43A7-4E8B-B248-BFD272B7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01B8CC-C0BE-4CED-ADE6-1F6F69BD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72CDC-EFA2-4B8D-87ED-25B2B136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0FA8D2-F32E-4BD7-AC5E-DC3DFEF6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2C3B0F-0FED-4E64-B12A-FB406141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DBA161-9234-4933-A194-C39B3D58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0E055E-FA4D-4C9A-A3CA-325EE3E8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BB630B-3D69-4FA5-8B9C-A4A734C7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C6A3D-0F31-4CD7-9D00-96A91F78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D94187-3FA6-486B-B6A5-82C51D01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F08614-B100-425B-9EDE-AC22C6DA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56265A-A7CF-462A-A26E-012FEFA5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94E6CB-2688-41BD-BB95-312E813D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DD2B9B-9305-4E58-A5FD-032C2EBE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39534C-503C-4D85-ADFE-A70117CB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rPr>
              <a:t>第二段精讲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847D69-FAC8-47BC-B3D8-FFB5848B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933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51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三组对比</a:t>
            </a:r>
          </a:p>
          <a:p xmlns:a="http://schemas.openxmlformats.org/drawingml/2006/main">
            <a:pPr algn="l">
              <a:defRPr sz="51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51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排山倒海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D9002C-97EA-40B4-BF35-B63DBCDA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790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一组对比只能说明一点，三组递进对比才能形成逻辑压力。</a:t>
            </a:r>
          </a:p>
        </p:txBody>
      </p:sp>
    </p:spTree>
    <p:extLst>
      <p:ext uri="{BB962C8B-B14F-4D97-AF65-F5344CB8AC3E}">
        <p14:creationId xmlns:p14="http://schemas.microsoft.com/office/powerpoint/2010/main" val="12890313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EDF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48930B-2EC2-4FB8-8F55-6451AFD0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Overview · 三组对比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FD912-86AB-4D0E-9B8E-6750E844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11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6F2E9-630B-41B9-9306-FECA8F17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Page 11 · Three Contrasts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7662F-3794-45C5-93D4-E351C1A0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Time, Object, Class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11AF3-FA1F-4860-AEDC-4BDB8E54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4670E-CEB2-4560-B7D4-007C833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F818A-83D1-4112-A016-03843CD1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B9460-0A0F-4A2A-A9F1-AC495526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99DF9-EA83-4C09-A80F-E11A95D0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274C1-1FB8-4098-964E-22261527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0AD45-30A1-4BDF-B97B-9EDB147F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55038-1438-4C01-BF01-22A2E1D2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20DA0-EDF5-4EC7-A934-38BC8F06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C0304-5DC7-4D11-8ADC-9EB1CDC1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B532A-B6DD-4277-B250-752F451D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E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7EBE7-E9C7-4DA4-AE1C-A65404C0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710E3-9FEB-4EE4-8EDA-AF57F344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9FE4D-EA19-4214-B5D0-04323603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25984-C544-4D00-A90F-7001D457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C95265-6FAA-49C8-83FE-BFE88563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C8C58E-F0B9-4D1F-9019-7CBF2511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AF7473-08A8-4B4D-878D-38DBD986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6E66DF-58B4-493C-B2AD-56A23AFC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6AD2F7-1DF8-4F21-BDFB-BD4C353A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F303A2-8CDA-4098-A094-7EC8047A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3DFEED-2BE9-4B34-AD5A-5BF46C4A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01EC0E-262E-4E6A-A144-619AFD6E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86A468-BD07-4741-AA65-1F89591F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A1EEF6-4F88-4F15-A237-4ABCE346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917EB6-B415-4AE5-AC47-1A5B0B26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165237-F7AB-4BDD-9A4E-D6F0D4C4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rPr>
              <a:t>三维打击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5E336C-4132-4149-AB5A-756CAC30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8858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46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从一个观点，扩成一张网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3EC7E6-EC13-43D4-A8FC-98D5A99B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0DD46D-1ED8-4E89-8E2C-5B027E0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BB541B-F4E7-4457-BD58-02B9AE2F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纵向比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BF9C28-1FDB-453B-9FD5-6E54A7CE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3333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古之圣人尚且从师，今之众人却耻学于师。结论：圣益圣，愚益愚。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45EFBE-D0BE-4CBB-9E6B-CC25F3CF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382C9B-65C0-43F7-8AC0-9D3C097B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861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BC0A74-4C2C-43ED-9374-8C250821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861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横向比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6A7962-BCDF-4D44-8AFC-C8500CD5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81450"/>
            <a:ext cx="3333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给孩子择师，却对自己耻师。结论：小学而大遗，未见其明。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1CAD17-21FE-4E43-9094-B9FC7881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DFD87C-CB30-4F4F-8ECC-2041E2DC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861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5B166F-0D11-4BD6-BAF2-32309C4A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阶层比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AE0175-FBF9-409C-BD0E-46338544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81450"/>
            <a:ext cx="3333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百工不耻相师，士大夫群聚而笑。结论：其智反不能及。</a:t>
            </a:r>
          </a:p>
        </p:txBody>
      </p:sp>
    </p:spTree>
    <p:extLst>
      <p:ext uri="{BB962C8B-B14F-4D97-AF65-F5344CB8AC3E}">
        <p14:creationId xmlns:p14="http://schemas.microsoft.com/office/powerpoint/2010/main" val="12809264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A1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9A0F6A-6080-4F5E-8351-7D662BD8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Contrast 01 · 古今对比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EE18E-DAA7-4E43-B4AF-2745A4CD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12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5FA5F-2636-40DB-8460-040F4D83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Page 12 · Vertical Contrast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A84BF-73DA-49C4-AC71-C8DB6E84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Past vs Present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67241-1469-49C7-AEAE-E935E53C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42CBA-1ECD-48F7-8888-4DF7F31B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F6668-DDD2-46F3-AE87-03A48F28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FDBFF-1639-4367-9F8C-D81FA223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122EA-AAFC-4CF9-93C5-21190AF3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7635C-ED66-4866-8D1B-8EEDBD34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8F1E4-99EE-4EA3-A406-A9C90F54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D07A9-BE58-4788-A53B-EFD9DEF9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890FF-5ECE-4A00-B643-566700F4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D8712-EAC5-442A-A411-8F301688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A24FD-378A-4A43-BC23-A637BB8F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A2C6C-81D4-47B8-89D2-E347CFEE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A492A-82A6-439E-BC5F-03951A01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7A27E-A4D5-4BDD-882D-ECA3531A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F4DDAD-7F13-482E-94A9-3838B717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099C33-B2D0-4E6F-8B6B-82F2C27F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09C37A-B3CE-4BEA-B85D-5686AB11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301415-799A-44D4-AF8B-CCFCFD0F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781AE-8651-49B9-B7FF-A835BDD9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834B47-6564-4197-8214-77065438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57FAAD-CBCC-4F3B-8DC2-5443968A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9FA538-3F1F-4E46-B81E-58A5A5AD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DE3A4C-59D2-42B9-8F27-AD4C3148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0F8838-9E9E-46FC-881C-09717AA5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1179FE-9E10-4563-B7D7-B3E89516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56F765-8192-4733-B5BA-23C3E712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CBC3AB-0CAA-4F5A-9BB0-60B096F0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rPr>
              <a:t>时间维度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31149F-2567-4CAE-8835-EC142C9F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8858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42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越优秀，越从师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C6A5B7-805E-4926-ACAE-1A894825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7"/>
          </a:solidFill>
          <a:ln xmlns:a="http://schemas.openxmlformats.org/drawingml/2006/main" w="0">
            <a:solidFill>
              <a:srgbClr val="C9BDA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35C80E-986E-4F52-B1C3-6013831A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10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古之圣人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0DF370-A675-4F49-9FE6-65505697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447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其出人也远矣，犹且从师而问焉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BE27E8-0C91-44CC-AED6-D43729B8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EAD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F7EAD4"/>
                </a:solidFill>
                <a:latin typeface="Noto Sans SC"/>
                <a:ea typeface="Noto Sans SC"/>
                <a:cs typeface="Noto Sans SC"/>
              </a:rPr>
              <a:t>圣人已经远超常人，却仍然保持求教姿态。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E808A8-CE47-4B53-A3FC-AD6271D9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5750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7"/>
          </a:solidFill>
          <a:ln xmlns:a="http://schemas.openxmlformats.org/drawingml/2006/main" w="0">
            <a:solidFill>
              <a:srgbClr val="C9BDA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81834B-7DC6-45EC-A53F-C3C36005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4325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10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今之众人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6A2AF8-6DA2-46F9-8133-3340BA6B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81400"/>
            <a:ext cx="447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其下圣人也亦远矣，而耻学于师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210924-EDCB-4242-831E-33D9C2ED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4577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EAD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F7EAD4"/>
                </a:solidFill>
                <a:latin typeface="Noto Sans SC"/>
                <a:ea typeface="Noto Sans SC"/>
                <a:cs typeface="Noto Sans SC"/>
              </a:rPr>
              <a:t>普通人本来更需要学习，却反而以从师为耻。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60E524-E0F7-4EC3-B72D-35C8F786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CE3F80-E59F-4976-A47F-D8FDB241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43550"/>
            <a:ext cx="7762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结论不是“圣人厉害”，而是：圣益圣，愚益愚。</a:t>
            </a:r>
          </a:p>
        </p:txBody>
      </p:sp>
    </p:spTree>
    <p:extLst>
      <p:ext uri="{BB962C8B-B14F-4D97-AF65-F5344CB8AC3E}">
        <p14:creationId xmlns:p14="http://schemas.microsoft.com/office/powerpoint/2010/main" val="4515827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EDF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414E6D-8876-41DC-80DE-0C2F095F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Contrast 02 · 自身矛盾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140AC-01D8-4F74-ACF2-94D76368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13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A2238-B009-42DE-9283-413BFDF3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Page 13 · Object Contrast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076EE-B103-433F-905C-E05A15A1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Child vs Self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BF3FE-B35E-4228-9F57-413EFB72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CF2B7-E866-490C-AA22-0E648DE7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2AB67-47A5-4076-A145-5EFBD6E8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3CD91-9D23-4E22-AD0E-A31D9E38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7E4EB-954C-4F8B-B996-471DA631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BA9B7-5715-4ED7-9585-E25A60A9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D4E34-B3CE-4D3E-A064-22DD7521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9D04B-9ED9-4CD2-86B9-A2255008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869E8-86F7-4622-86BE-134885CC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A9B68-2C8C-4060-99AC-F2B7C27E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8A6FE-BF7B-47A3-80ED-55552B11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5E5A12-8450-4513-A45E-77BB7541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F2A8F-D767-451E-A383-6F539DA3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E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A8F82-9176-4650-BEC0-AA470D6F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ED2563-FD92-4C96-BE05-801FDCD5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FBB8CF-512F-4DC6-ADF0-CB0F6646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542588-DE66-4BBA-AFD1-CD6ED8A7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E2036B-07C9-4904-87D5-5163D9C5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11B6B0-9CE1-4CF0-8117-70A84845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644A81-00A6-4E41-A26F-D7A03695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92CB3E-6C28-45A6-9F3C-0F518933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8E8D65-0859-4B56-9F6B-1F41ACA7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31A13F-4D2A-441D-BAFB-D588100F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0E3A26-2046-45C6-93D5-AC14A859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363144-D970-4219-934A-680FDC5B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9FD1AB-C208-4BD9-8EF8-A021425B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0C7C53-26D3-4AE8-B74C-271036E4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rPr>
              <a:t>对象维度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E8A5A3-A1CC-45BE-A711-FA080810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8858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42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对孩子严格，对自己宽松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E49F28-415F-4875-A8DD-2E08ED8F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CF7C74-EAFC-4096-A35D-FF169113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10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爱其子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95F5E5-449E-4C48-9491-298489C1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447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择师而教之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5F6770-B99C-4714-9FDB-4446183D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孩子不懂句读，家长知道要给他找老师。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A99BB6-3701-4C6A-A30F-3D972E85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5750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C695BA-5FEC-44A7-B9B7-80FA676B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4325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10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于其身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A4045F-8E1E-426D-8BA0-9AB9A64A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81400"/>
            <a:ext cx="447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则耻师焉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6EA6C2-0DB6-4549-9761-B5106DCA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4577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自己有更大的疑惑，却觉得从师丢脸。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D4C5A6-639B-4CDD-8193-0D9FFCAC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A784E1-F3BF-4B78-9B38-3B1DE4FC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43550"/>
            <a:ext cx="7762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韩愈抓住的是双重标准：小问题认真，大问题糊涂。</a:t>
            </a:r>
          </a:p>
        </p:txBody>
      </p:sp>
    </p:spTree>
    <p:extLst>
      <p:ext uri="{BB962C8B-B14F-4D97-AF65-F5344CB8AC3E}">
        <p14:creationId xmlns:p14="http://schemas.microsoft.com/office/powerpoint/2010/main" val="17395600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A1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3C454C-1439-4443-B3CC-C26C6A78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Contrast 03 · 阶层对比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7A3E9-AD28-4BE3-B81D-AF68A852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14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D1641-281E-4FC8-89A9-6D3CB9F2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Page 14 · Class Contrast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7E4B9-9B02-4228-9A37-F1C9E0F6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Workers vs Elites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ABE21-3231-484E-8681-8C93AE86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FE9AB-9A9B-4885-AC8D-3C320446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B3B21-EB5C-48D1-BD47-2D04B7F0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893E2-9102-4209-9A48-C568630A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FBA57-631E-4C9F-B269-08F41E97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61CE9-A040-4D99-8BA7-80182060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E5C58-AFF1-4B84-84DC-FAFC9683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7755F-3BDE-4BAF-9DAB-73C02DB8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815E5-AD0D-4F1F-8DEC-59CA8DB6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BC5DFA-7D0E-40CC-9277-3C120996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89C9A-9B82-4640-B6D8-A0362A47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997EFA-1EF7-4636-B6D1-F517F74E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BF65A-F7DC-41FA-85FB-72CC37A6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235BE-061E-4D5F-A31D-8994AF22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DC1689-9966-4A34-9FAF-446D256A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23427D-F501-4943-8D65-39DACD22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9CD3B9-7339-4B74-901F-964716B0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C0FBA7-DC25-40B9-A936-FC3531C5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73CDA5-1AA1-4B19-AE46-FB264166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3BD58B-FEC9-45E4-98E1-EB6D73CF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31A1BA-B5E2-43E0-A98C-78711AD4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5B3056-C302-40D8-9652-C69CB926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C94D3D-765D-45C4-9424-926D382C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7A32CA-ACD6-4CB7-B4D1-EA75FB00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8E1AF6-0D11-4CEB-998A-FAF283F3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2AB5F3-8408-4C46-BFA9-00FAFE08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C533F7-7FCC-40BC-B414-E1F896C7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rPr>
              <a:t>身份维度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272CC4-2094-4690-A884-7EE64046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8858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42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谁更像真正的学习者？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499A4E-C72C-4EB0-BAA5-3F4F5151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7"/>
          </a:solidFill>
          <a:ln xmlns:a="http://schemas.openxmlformats.org/drawingml/2006/main" w="0">
            <a:solidFill>
              <a:srgbClr val="C9BDA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6BDF6D-AFAD-417D-88EF-A7CB79FC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10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百工之人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55D314-5302-49AF-9C56-39458827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447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不耻相师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5A6551-67BE-49EF-B244-8314E6E2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EAD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F7EAD4"/>
                </a:solidFill>
                <a:latin typeface="Noto Sans SC"/>
                <a:ea typeface="Noto Sans SC"/>
                <a:cs typeface="Noto Sans SC"/>
              </a:rPr>
              <a:t>职业地位被轻视，却能彼此学习、互相请教。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FC2870-4678-43D0-AC95-D1D51F32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5750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7"/>
          </a:solidFill>
          <a:ln xmlns:a="http://schemas.openxmlformats.org/drawingml/2006/main" w="0">
            <a:solidFill>
              <a:srgbClr val="C9BDA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B47A68-52EC-4996-833A-FCC9CF62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4325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10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士大夫之族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BABC3D-903B-4A09-A10C-3BE47B83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81400"/>
            <a:ext cx="447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群聚而笑之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E167CD-34BC-4BDB-8660-007F9E03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4577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EAD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F7EAD4"/>
                </a:solidFill>
                <a:latin typeface="Noto Sans SC"/>
                <a:ea typeface="Noto Sans SC"/>
                <a:cs typeface="Noto Sans SC"/>
              </a:rPr>
              <a:t>自以为高贵，却被身份焦虑困住。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44488E-E7AD-47AF-895F-E9114697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789996-E5A4-46FA-B2F2-F336D3C1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43550"/>
            <a:ext cx="7762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这一组对比的力度在于反转：自称君子者，智反不能及。</a:t>
            </a:r>
          </a:p>
        </p:txBody>
      </p:sp>
    </p:spTree>
    <p:extLst>
      <p:ext uri="{BB962C8B-B14F-4D97-AF65-F5344CB8AC3E}">
        <p14:creationId xmlns:p14="http://schemas.microsoft.com/office/powerpoint/2010/main" val="5353087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EDF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A73C7D-529C-4062-96A6-CB0BB67C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Tool · 三对矛盾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3DB6E-967D-46F9-8A1C-6913999B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15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64C29-1260-4641-9573-248426DA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Page 15 · Body Paragraph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3BEE3-2B71-44F3-BAD4-7112331D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Three Contradictions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C11FE-C36A-4275-8FC6-2DB32354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1107D-6A7C-4778-A515-02FA6A02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CBCCE-8837-4493-ABD4-AFBA43B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5B750-497B-4919-ABD0-E2F2F107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062B3-1B00-417D-B74B-999D6F48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A8C48-8FB7-4281-B112-5FA8233C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48063-0D2D-44CA-AE0D-8DB06D2C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2343B-D27B-4034-A5CE-D0D8CFD4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B6874-87F7-4EA0-8801-9F7C8536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D4030-30CD-4BFA-9757-B30BB8B6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E8419-83B0-45E2-82BD-9CBB6124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D9D1D-B7DD-4C3F-A7C9-2821D705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E2FBCD-CAF4-4100-899B-53AB6270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424698-5105-4689-BD06-051A022A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CFE23-B234-44D4-B652-3689C1DD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E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223C64-7D95-4777-8958-F95AE050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1039E-4E8B-4B09-912B-9C058FF5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09604C-C4F2-4A24-800A-4160E99A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409DB0-89AD-4419-BF39-8C263FD4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8EDB08-8F7D-4F4A-975C-463E1BA8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8DC253-EC59-40FD-A86C-7F048FCC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92CD09-69F6-4803-9D2E-DD50E10A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667BF1-8532-4ADA-B1D6-2EFF5E91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E81277-5EEF-486D-B049-79B4D848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CC0CF8-646B-4CF6-9D66-955AB61E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9AD847-EB8A-40C7-86D6-8852C90C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5A53A4-93A4-44F7-8075-9D108BF0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rPr>
              <a:t>写不下去时，画一张表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8F9386-B8D6-4D83-B193-37B7017F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8858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考场本论的续航方法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B3C5FD-F623-49F0-958A-98C8C699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463E7F-FCAF-4991-BB19-4C287BEA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47975"/>
            <a:ext cx="340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比较方式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4C35B9-8E6F-4407-A4E5-44D070B1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847975"/>
            <a:ext cx="340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怎么找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11C89C-3D6A-4EEB-AB5E-14B4A253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2847975"/>
            <a:ext cx="340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1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写作效果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118709-B1BF-4B1A-A394-8177692F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A93FEA-F9DA-4782-99F2-FA6DC647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05175"/>
            <a:ext cx="340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纵向比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7BC332-6746-4448-8EBA-3248B80C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305175"/>
            <a:ext cx="340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以前 vs 现在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2D6C1E-F926-4C36-9A54-7CE9E919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305175"/>
            <a:ext cx="340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拉出历史维度，证明问题不是偶然。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A34E05-E38B-4EAC-A7AC-722EEF96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91F005-53FF-4AA3-9A27-F12D11BB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340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横向比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DBA2B1-BD02-40C4-B042-17FEB3F5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971925"/>
            <a:ext cx="340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对别人 vs 对自己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9EE6DE-EDE6-424A-9D24-232B7D8B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971925"/>
            <a:ext cx="340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揭示双重标准，让对方难以自圆其说。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6A348D-BBD9-4C04-8EC6-D74B2D42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FD67A8-236F-4A53-AED3-F60386E6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38675"/>
            <a:ext cx="340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阶层比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99719B-B404-47E7-95A2-CE6FD46D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638675"/>
            <a:ext cx="340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被看低者 vs 自以为高者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381921-FC2C-419C-AAC1-50416BF8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4638675"/>
            <a:ext cx="3403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制造价值反转，形成讽刺和压力。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33F962-87C7-4FDD-88E2-0D5F1ACA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885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一个观点，如果能找到三对矛盾，就能从“一句话”长成“一篇文章”。</a:t>
            </a:r>
          </a:p>
        </p:txBody>
      </p:sp>
    </p:spTree>
    <p:extLst>
      <p:ext uri="{BB962C8B-B14F-4D97-AF65-F5344CB8AC3E}">
        <p14:creationId xmlns:p14="http://schemas.microsoft.com/office/powerpoint/2010/main" val="14669156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A1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55B090-8706-4DF8-B1DE-865E1CAC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Act III · Structural Rebuttal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80A69-335D-49BE-8ED1-79F1DDE2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16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F0FB8-ED0E-45AE-9683-57740606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Act III · 驳论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FA481-BB6C-4A54-9428-F950AB87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Targeted Thinking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E5FBD-3CB3-4907-AC06-D2C8AEBD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D3BB4-DCAC-4282-B422-172ED87D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A66C7-54C5-4C82-A526-3569E1CA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6CD30-68BC-476C-BA0F-3ED9A996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1F080-EEF5-439A-B220-9F053326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F5544-7645-46C7-9843-182370A5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C2108-A316-47CA-BCEA-2DA887F5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2109F-59F6-4062-A2AC-7153433C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F3CD0-10B6-4EB5-88E2-C237404B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555F5-21A6-49CE-B4AC-EE5A5190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8AC5C-F25E-418D-818C-E200E2FC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60BB0-CA0D-4BE9-B24D-7238FD86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BA582-2368-4657-A0C5-B4F318F8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6F5DF-3066-4A5E-97F9-0A77DD6D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5FCEE5-B4F4-45DA-B618-C55571D3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98575-1047-43ED-8AC0-AC04E042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85640E-B475-4B7E-A1AD-D3521C88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C9ABA3-F634-4FB6-9675-73BD5752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34503D-60C3-4ED1-8317-16835202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CE4379-1F2D-4E84-BB0C-F099384C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6D722C-9CFF-4CA0-93F5-D946B8A0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236FB6-465F-4DB3-9320-35CD3E2F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16AE17-0260-4488-931D-02B7275C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24150F-FFB9-4AA4-B7A6-F17253F6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E09730-6D48-4635-862A-C7975868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324BBF-1197-4CB0-849D-DE63FD03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FAC93C-23B2-4805-A092-A6C44725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rPr>
              <a:t>核心亮点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E27CF8-8926-484F-A83F-4B5A9D4F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933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51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预设假想敌</a:t>
            </a:r>
          </a:p>
          <a:p xmlns:a="http://schemas.openxmlformats.org/drawingml/2006/main">
            <a:pPr algn="l">
              <a:defRPr sz="51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51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再逐条击破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4F1BEA-63CD-4232-8852-8F517AFB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790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好议论文不是只写“我赞成”，还要写“你可能反对，但你的反对站不住”。</a:t>
            </a:r>
          </a:p>
        </p:txBody>
      </p:sp>
    </p:spTree>
    <p:extLst>
      <p:ext uri="{BB962C8B-B14F-4D97-AF65-F5344CB8AC3E}">
        <p14:creationId xmlns:p14="http://schemas.microsoft.com/office/powerpoint/2010/main" val="3662836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EDF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0F4603-0066-4120-A9A0-8FD08225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Opponent Map · 六个假想敌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AF91F-2D9B-4F49-8781-944DF91F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17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B43CF-0CF4-4E7E-B11F-0BCC183E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Page 17 · Six Objections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E5557-1AF3-47AB-9263-710A60DE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Prebuttal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E0614-5C83-469C-A9CC-8093DD24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D2614-069F-4158-9DC1-2578DF0B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EE132-FC81-4591-A0FC-03302790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CA50D-5694-4930-862E-A72E0CD7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A50F9-9602-427D-A210-3662D075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D70E0-518C-4861-9611-9F66AE2D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884FC-4F53-43CB-B3A0-3D485035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CE9C2-8A12-4F5D-9032-24ED258D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E5062-9677-42F4-ABA6-677B4CAC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FBB28-E690-4566-8859-DB79130A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24DA7-7357-4F4F-8717-83B0A70C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85F69-9009-4EE8-94A6-ED3AA622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BBC241-8C27-4720-8DA8-75BAF103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E47A6-0B6C-47FE-9D32-C8C05D75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9AF28D-AE75-4B5E-A895-95B53B02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58A59-276D-4378-9C31-D718976A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983C5-B1EE-429C-A35A-7B424C08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E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162922-0427-4E44-B6E5-BA9BDA2E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E2EFDE-0A48-4F98-A9D2-2A4A0477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98C840-C5D5-4D58-A9CE-654BBDED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2391C2-E1F5-4736-A2AF-8440BFB0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0F8D1F-9BA1-4DBB-9CEF-182CDC4C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38050C-AE06-4FE8-A051-199A81BB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A34CF3-1176-49D8-B286-14EE161B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D2C5C9-2167-4F82-9D28-DC4E219B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C74FBC-F1CA-4508-BBD1-D5F2B463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EFD5FD-D81F-4BD8-88A6-D38E39D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rPr>
              <a:t>把反对者请到现场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5D1945-0DF9-4214-92D2-49E016AF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8858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韩愈预判了什么？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A62A59-3ED5-4923-A9AF-981C0A2E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9EB261-171F-4558-B76B-44B36B41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拜年轻人为师丢人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4504C7-4C42-4202-A675-897BE378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吾师道也，庸知其年。用“道”替代年龄。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2DE1D1-FB08-4728-AE6F-B689CC76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1462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402D2D-B5E5-40B5-ADB6-BDB89098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886075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向地位低的人学失身份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43ABC8-00F8-44E3-A3C4-E64C6B1C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3850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无贵无贱，道之所存。提前封堵身份论。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32584F-3368-47C1-99BB-22C43CEF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1462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185F31-B595-49B8-9DEB-CD92FBA2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86075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成年人不需要专门拜师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757393-CA69-4B26-B2C8-C72DBBAA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爱其子择师，于其身耻师。揭出双重标准。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E99944-CFDF-4237-AE84-FEA78E3D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3382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0BB36F-C153-46DE-8C34-A1AA2DF5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向底层人学习可耻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3F749C-826F-431F-9D05-47D6E706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百工之人不耻相师，智反不能及。完成反转。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32D961-957F-453C-B50A-60140E9D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93382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359B77-BEB7-4FD8-BA8C-5E356AA7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105275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圣人不需要老师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8FA4BF-4C09-4717-89AE-A39F0352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5770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孔子师郯子、苌弘、师襄、老聃。借圣人反驳圣人崇拜。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805B5E-E85D-4386-AA79-1007EE57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3382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614C4A-256B-4CD2-BAE3-CDA164B7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05275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弟子不能超过老师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79D742-2A97-4389-A179-E28586D8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弟子不必不如师，师不必贤于弟子。主动越界，重设关系。</a:t>
            </a:r>
          </a:p>
        </p:txBody>
      </p:sp>
    </p:spTree>
    <p:extLst>
      <p:ext uri="{BB962C8B-B14F-4D97-AF65-F5344CB8AC3E}">
        <p14:creationId xmlns:p14="http://schemas.microsoft.com/office/powerpoint/2010/main" val="1339051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2A1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0E3330-C4A0-47D4-9BE3-61535745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Root Cause · 看透病根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D9C0F-BCBC-4CF3-A8B5-19595541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18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202AF-EDFE-48D7-8A87-53F61A65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Page 18 · Root Causes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33C34-29B8-40DC-929F-2C16D167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Diagnose Before Argue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172F4-B255-4E68-8242-CF5F0C44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D02F7-253C-4A99-B9CA-ED6DD4D8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549D0-9EFC-4336-80B5-67CB3829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38807-4C7B-4214-9C8B-48213AE5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1F80F-774C-41ED-B7B6-C2BF257F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9A33E-B33A-4DC5-9A43-29C96041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A79E8-7C79-44D2-817E-6B3E9334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C4B5D-5905-4132-BA93-111F9229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81DA2-EBB0-4FAC-98D7-70047A5B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8125E-C6C9-4B63-A0A0-7CC23761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75504-DF83-4B97-897B-492002D9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A5159-559E-44AC-812F-D96223DB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12DF72-30DA-432A-A6A2-BFCC6278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8BA0C-6C48-474D-9009-4F05BBB0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32B5A3-3829-4339-8A09-92C8C5C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9F379-8AA6-4E7B-AF99-AE82B1CD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D30F0B-407F-44D2-AF7F-010C8040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031FBE-DADD-462F-BB1B-B01069EF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F55553-D638-4C7A-A311-8BDFEDDE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F1FA92-16EC-47CD-8883-9C4F3AD3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276A61-03D3-4A33-AD29-14733419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636B93-89BC-476E-8497-CEFC42BF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EF8C88-D274-404B-8D44-31BC0A73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9B92DC-2D1A-488E-B61F-2490936E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77D886-48B9-4418-A0E8-010AD336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A044B7-C393-459C-9CA4-4FAEE187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FEA6FD-5F9B-41A2-9CA5-ED650CBE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552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rPr>
              <a:t>结构性驳论的前提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C071CD-7BB9-4128-9036-A6406A43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33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48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先看透病根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938773-D264-474E-9959-B8DC82FF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590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“耻学于师”表面是一个态度，深层是六种心理：怕丢脸、怕降格、懒惰、双标、歧视、误解。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663AC7-9FF8-4643-A38F-982D7A81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590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3ED92F-448E-4C1B-A1E8-195E666C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006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只有看清反对意见背后的原因，驳论才会刀刀见血，而不是隔靴搔痒。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DCB62D-4BAD-48C7-B2DF-8D5D47B8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429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C9BDA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1E9585-729F-4A6D-86FD-EF5457E8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09750"/>
            <a:ext cx="2762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年龄焦虑</a:t>
            </a:r>
          </a:p>
          <a:p xmlns:a="http://schemas.openxmlformats.org/drawingml/2006/main">
            <a:pPr algn="l">
              <a:defRPr sz="22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身份焦虑</a:t>
            </a:r>
          </a:p>
          <a:p xmlns:a="http://schemas.openxmlformats.org/drawingml/2006/main">
            <a:pPr algn="l">
              <a:defRPr sz="22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双重标准</a:t>
            </a:r>
          </a:p>
          <a:p xmlns:a="http://schemas.openxmlformats.org/drawingml/2006/main">
            <a:pPr algn="l">
              <a:defRPr sz="22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职业歧视</a:t>
            </a:r>
          </a:p>
          <a:p xmlns:a="http://schemas.openxmlformats.org/drawingml/2006/main">
            <a:pPr algn="l">
              <a:defRPr sz="22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圣人崇拜</a:t>
            </a:r>
          </a:p>
          <a:p xmlns:a="http://schemas.openxmlformats.org/drawingml/2006/main">
            <a:pPr algn="l">
              <a:defRPr sz="22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师徒误解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D5DD86-F821-401F-94F2-70CFEA94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14800"/>
            <a:ext cx="271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EAD4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F7EAD4"/>
                </a:solidFill>
                <a:latin typeface="Noto Sans SC"/>
                <a:ea typeface="Noto Sans SC"/>
                <a:cs typeface="Noto Sans SC"/>
              </a:rPr>
              <a:t>先诊断问题，再设计论证。</a:t>
            </a:r>
          </a:p>
        </p:txBody>
      </p:sp>
    </p:spTree>
    <p:extLst>
      <p:ext uri="{BB962C8B-B14F-4D97-AF65-F5344CB8AC3E}">
        <p14:creationId xmlns:p14="http://schemas.microsoft.com/office/powerpoint/2010/main" val="18154626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EDF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83D29E-EA09-437E-B651-EB5ED32B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Exam Move · 考场操作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8A21E-1979-485B-922E-1422276B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19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11DD1-7B0B-4052-84A7-A4D91626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Page 19 · Prebuttal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C347A-F4B8-4A9C-92E6-1FE73984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Prebuttal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E5E20-93DD-4DFF-8B60-56AFB25A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648C0-7391-42CA-B036-66F378AE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48C66-1A6C-4191-A123-139F1D1E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B4B92-1161-43B5-BDDA-7487C6CE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7EB3C-4C42-494A-9524-56D6D69D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245FE-8043-4487-9F66-FC7CC94F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46114-718A-496A-808F-2A81678A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F0B4F-04D6-4BBC-8A49-EEBC1671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4AD15-AA63-4E84-A66E-3ACE54A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1C873-D003-4348-9822-C81E72B4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25A13-970B-483F-B1F2-3CB99552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D0165B-C77D-489E-881F-C7FE566B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3DC07-D7B2-4B77-9425-691F50E9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6016C-8DDD-40A4-9AC9-9195B8C5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D04B98-515F-466F-8CA1-87ED2B79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A1873B-E323-4A88-867A-DEF58412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53856A-B3BC-433A-8E1E-84BA4965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6BBDF-774E-4ABB-80D5-C459B3D0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91F726-6B1E-4999-8262-486C6C15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E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4984FE-1747-4A5E-B64B-B024488F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21444D-84AC-41F1-AADC-E64BBDA3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AF5C02-8155-42BF-866F-B4C2549C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876E09-B828-44DA-95CE-2F035CE9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2DDE05-F66D-4C91-B3D4-201BA894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1C63B3-0B9F-43A3-A9CC-BB70464D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BF7386-ADA1-4609-BC5E-F1C06F51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5F823E-1243-402E-94E4-77D514B6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rPr>
              <a:t>写作前 10 分钟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EB3105-B440-4C31-8B4F-BB48FE02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8858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先搭一张“反对者地图”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9EA70B-7393-4D9E-BDC4-69B01F03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EE3F32-4AC8-43F0-9260-60FD12DF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647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Pre-writing · 反驳准备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64AC96-DAA6-4F27-A4B8-7D3A734A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201168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DE43F5-1490-4D83-A1C2-2E7FEDF6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7CCC65-EA87-47AF-B170-23C28F16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201168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列反对句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ED6B34-800E-4932-B98C-24500791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20116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也许有人会说什么？先写 3 到 5 句。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44539A-03C1-4352-BA09-3A2DDA02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2971800"/>
            <a:ext cx="201168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914D40-A870-4528-8008-A3937501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31432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66B16A-E2A5-455B-8466-EA7F9B15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3429000"/>
            <a:ext cx="201168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找病根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39A8B3-A666-43E8-83ED-E88BE1A8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3771900"/>
            <a:ext cx="20116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他怕什么？误解什么？偷换了什么？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C4984E-5388-4D80-9065-E642E989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110" y="2971800"/>
            <a:ext cx="201168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452E49-F12B-464D-8CD7-BCA693C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110" y="31432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82DE69-76EF-428D-AFDA-D63379E8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110" y="3429000"/>
            <a:ext cx="201168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分维度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C8A370-9EF1-4A87-8FCE-F8F4A4D2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110" y="3771900"/>
            <a:ext cx="20116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年龄、身份、利益、现实、价值。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8DFE37-10E6-44D9-A016-918AA5F0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2971800"/>
            <a:ext cx="201168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6D46BD-3B0B-4571-AE52-D7A7ABF4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31432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0E3666-6741-435D-876A-928D9456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3429000"/>
            <a:ext cx="201168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排顺序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653A03-26DA-4C8E-A940-CDD1AF3D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3771900"/>
            <a:ext cx="20116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从最容易接受的共识，推到最强结论。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184B63-443B-488B-9227-0E67100C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270" y="2971800"/>
            <a:ext cx="201168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DF8CD9-F6C6-46E5-ABBC-912CBB55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270" y="31432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BEC9E6-67FC-49B6-AA4E-1089876D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270" y="3429000"/>
            <a:ext cx="201168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写进文章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98B061-1049-4387-81D7-C3A693F9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270" y="3771900"/>
            <a:ext cx="20116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用“也许有人认为……但事实上……”落笔。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03231F-52D1-4AEA-AA91-A076AC87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不是怕别人反驳，而是怕你不知道别人会怎么反驳。</a:t>
            </a:r>
          </a:p>
        </p:txBody>
      </p:sp>
    </p:spTree>
    <p:extLst>
      <p:ext uri="{BB962C8B-B14F-4D97-AF65-F5344CB8AC3E}">
        <p14:creationId xmlns:p14="http://schemas.microsoft.com/office/powerpoint/2010/main" val="704020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EDF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0BAF13-CF3D-4E78-BC22-EE17992D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Parallel Text · 《六国论》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7E8A4-0961-4E09-B08F-8A514F10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20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CA3D3-C1F6-404C-8FC0-B1034CAE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Page 20 · Liu Guo Lun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72D19-A80C-4EB9-B3F0-C1F49788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Question Before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DA788-804B-4F40-B078-E9311CD1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89BC8-718E-4DAD-8D7E-31F50BAB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7FEA5-4238-445A-9578-36E290E3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06E2A-7584-4DB1-A29F-2EAD8AD2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09D5C-F75A-4843-B810-15743224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6F309-E3E4-4B1D-A15A-07C6C2D2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0DDB6-E577-4731-9D7B-91DF1AA6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84DA3-618E-4A88-9818-C565D57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06B45-7901-40C8-822C-5B77EA90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2479C-C892-407B-885E-29F42D8B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65163-85F3-4C4F-9D28-EDE9B890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B6342-9916-4DC6-8E1D-BC0D8AD6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7CBFE-79A4-48A9-8025-5AF79E60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E6264-07B2-4BBC-925C-78957581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7D7098-B94A-4576-9936-32F6CEDE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9FAB6C-238F-4397-9869-9A86E1AD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7FDB1A-78C7-419A-A136-E1550DF3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26EA92-B48A-4B06-8BCC-2309E453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5365B2-A65B-4C4D-99FE-094E20D0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C5C92-BC61-4E86-BB00-E9CDCDC5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E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5A469B-1B86-486B-9B08-D3B8611C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917E6C-1D8D-49D6-A450-E07EF888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CFF002-9BF3-442E-BA6C-82304AC2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54C65B-B46B-4E14-B0C5-FE277B1B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103CC9-89E5-41EF-8CB9-C877056C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5E0957-4C7E-426B-84C1-7DDA99C6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9CA92D-E851-4E28-9404-C02E5D71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rPr>
              <a:t>同样的高手动作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2F3AC2-2C66-4F00-9AC0-85141DC9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9048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46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“或曰：六国互丧，</a:t>
            </a:r>
          </a:p>
          <a:p xmlns:a="http://schemas.openxmlformats.org/drawingml/2006/main">
            <a:pPr algn="l">
              <a:defRPr sz="46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46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率赂秦耶？”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AC8090-2D42-4E2C-8A93-43451574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苏洵也不等别人反驳，自己先设问，再自己回答。</a:t>
            </a:r>
          </a:p>
        </p:txBody>
      </p:sp>
    </p:spTree>
    <p:extLst>
      <p:ext uri="{BB962C8B-B14F-4D97-AF65-F5344CB8AC3E}">
        <p14:creationId xmlns:p14="http://schemas.microsoft.com/office/powerpoint/2010/main" val="13579436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2A1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82F19F-CC47-451A-BA07-309F1F89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Pattern · 预辩句式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BB6DF-6489-45CE-911C-247D63D7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21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13514-01E2-4F10-B911-9FE7FDBB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Page 21 · Transfer Pattern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4CD83-A0F2-439F-9B84-8CC60052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Maybe, But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8227D-5772-4DC0-B00A-F7760A9E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DF1F5-FD12-4235-AED6-A280DD9F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E34C7-FA5F-4AC2-B509-68CF903D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85F4D-0215-44D9-9E33-27823717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FC51E-8532-4858-B8C4-9C2EBC0B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6B34A-8F3E-43A2-A633-327FD355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7E35A-615E-4AB0-BFA2-DB45E23F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DD3A2-2704-406B-945E-50B03E20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89BBC-B01B-4A73-83B3-B4D7AECF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54AD4-1C2A-4CF6-A780-2D140FB9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8C92C-2CDF-47A3-A597-D3A7C305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576A3-2A5D-4F51-9985-B8CD7596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D5844-08FA-4110-AAA0-47B7E824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239F4-C41B-4C88-B86E-D8883515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A1C1D8-FBD1-4BBE-810C-CB5E5BCA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E6EA9-90DB-4655-915B-1FF1920A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BDF07C-9D12-4679-842C-994D92D2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6E3282-1C1C-4845-9D39-9BEA3598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942348-C376-47AB-B837-DF8B3810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CD93B1-D3B9-4CD1-A37A-1D3B8457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ABC25D-8B93-44E7-A7AA-1CDB9132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97A3E7-3065-4E26-B171-690F6B1D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9DA6BC-27DF-4033-BBAA-9CB2A5BB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BB6CE2-0FE0-4C7E-92BE-D036CC9C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B0E013-1BC8-4B5E-9642-EBFC0972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C470BE-7F5A-4D3F-B629-0C2AAE9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D1ECF6-CB46-4EAF-8FCB-8ACD1429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rPr>
              <a:t>从古文到作文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64CFD7-50C8-4471-B443-0F78D700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8858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42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把反对意见写成段落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2AE882-471E-44F6-A8ED-A878E713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6477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C9BDA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42C0BA-44CB-4490-96C6-856781B7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590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28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也许有人会认为……</a:t>
            </a:r>
          </a:p>
          <a:p xmlns:a="http://schemas.openxmlformats.org/drawingml/2006/main">
            <a:pPr algn="l">
              <a:defRPr sz="28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28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但事实上……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3F7132-8E10-4383-AF64-086D3B61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561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EAD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F7EAD4"/>
                </a:solidFill>
                <a:latin typeface="Noto Sans SC"/>
                <a:ea typeface="Noto Sans SC"/>
                <a:cs typeface="Noto Sans SC"/>
              </a:rPr>
              <a:t>前半句请反对者上场，后半句重设问题的判断标准。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B20D0C-054A-412B-9BA2-38F0ACDB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7"/>
          </a:solidFill>
          <a:ln xmlns:a="http://schemas.openxmlformats.org/drawingml/2006/main" w="0">
            <a:solidFill>
              <a:srgbClr val="C9BDA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D3A0F4-F510-4FA1-ADAA-9F6EFC3C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先承认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75E411-F71A-4137-9E0F-E487FBD4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323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EAD4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F7EAD4"/>
                </a:solidFill>
                <a:latin typeface="Noto Sans SC"/>
                <a:ea typeface="Noto Sans SC"/>
                <a:cs typeface="Noto Sans SC"/>
              </a:rPr>
              <a:t>承认对方看见了一部分现实。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10D478-3E14-4BD9-A07B-5A719071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6672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7"/>
          </a:solidFill>
          <a:ln xmlns:a="http://schemas.openxmlformats.org/drawingml/2006/main" w="0">
            <a:solidFill>
              <a:srgbClr val="C9BDA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BC9162-80E0-4E85-8EF2-0FB3F090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914900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再区分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079E91-542F-4BE3-ABE5-97BEA4BA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286375"/>
            <a:ext cx="323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EAD4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F7EAD4"/>
                </a:solidFill>
                <a:latin typeface="Noto Sans SC"/>
                <a:ea typeface="Noto Sans SC"/>
                <a:cs typeface="Noto Sans SC"/>
              </a:rPr>
              <a:t>指出他混淆了概念、对象或条件。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98C4BB-927D-4D0E-A94B-E97400D1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7"/>
          </a:solidFill>
          <a:ln xmlns:a="http://schemas.openxmlformats.org/drawingml/2006/main" w="0">
            <a:solidFill>
              <a:srgbClr val="C9BDA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991137-FD5A-4784-B6CC-C57A7502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14900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后反转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B61565-920B-4682-89A3-DE15CAAF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86375"/>
            <a:ext cx="323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EAD4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F7EAD4"/>
                </a:solidFill>
                <a:latin typeface="Noto Sans SC"/>
                <a:ea typeface="Noto Sans SC"/>
                <a:cs typeface="Noto Sans SC"/>
              </a:rPr>
              <a:t>用更高标准收回论证主动权。</a:t>
            </a:r>
          </a:p>
        </p:txBody>
      </p:sp>
    </p:spTree>
    <p:extLst>
      <p:ext uri="{BB962C8B-B14F-4D97-AF65-F5344CB8AC3E}">
        <p14:creationId xmlns:p14="http://schemas.microsoft.com/office/powerpoint/2010/main" val="16429713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2A1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4415A6-808A-4C13-ACD0-F27534CC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Act IV ·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D6FE5-F30E-45BB-BE28-1B628890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22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9DF76-1791-46D1-B2CA-8CB35F10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Act IV ·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8C0AA-4945-4E2E-91BD-5BCF9944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Write With An Opponent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F7393-27FA-48E3-859C-D409239B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CF1F3-9D83-40C0-8993-2309AADC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B047D-E0FB-4CEB-9658-B6246E6F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A01E7-DFCD-4F9C-8CDE-36CCD47E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79DD1-ABED-4115-8119-9CE9E469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1AF51-6FC3-43AB-81D2-172FF02A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165C0-6563-414D-BF13-03B5CB4B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0A11D-DCC9-4DB0-819B-92EA0950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945A6-8CF6-43CC-B209-BB983F8D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D0942-D1FF-42FC-AF7E-AFA87388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5979E-6952-48E5-9CA9-A8009599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564D7E-70B1-4B4B-A18A-B3AA4DE7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F6C143-B1FD-43C8-AAA2-19FD2117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B0D0A-2FCD-4970-9EA0-114546B7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CFC65-2810-413E-95F2-2AD16FBC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6E5F84-CC1E-4E85-B829-B36EA1BF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49857-3ABA-49DB-8B2E-321A7A42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0C8584-ED43-469C-9CC8-872373E7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1AEF0C-FFB6-424E-943F-F9DF03D9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8FAC99-D606-4834-BA00-B045DA74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856C06-3A69-4896-B82D-A639066D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5D8EDE-1A77-4882-B43B-5DCD09DA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4ED3BB-1173-4543-BBFF-B0F0D971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F3852-D1FA-4D6E-94BD-55D316C9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610593-D713-401D-AF13-A79D6364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B9C378-8482-4BE5-A1A3-1BFB8646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2A05D0-2C4C-4FF9-B298-FB301F85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rPr>
              <a:t>课后实战演练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8668DE-CDCE-4996-ABB7-FA30595F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933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51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吃苦耐劳</a:t>
            </a:r>
          </a:p>
          <a:p xmlns:a="http://schemas.openxmlformats.org/drawingml/2006/main">
            <a:pPr algn="l">
              <a:defRPr sz="51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510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真的过时了吗？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1B8B7E-C93C-4870-AF56-9C6532E3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790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仿照《师说》的开头结构、三组对比和预设反驳，写一篇议论文提纲。</a:t>
            </a:r>
          </a:p>
        </p:txBody>
      </p:sp>
    </p:spTree>
    <p:extLst>
      <p:ext uri="{BB962C8B-B14F-4D97-AF65-F5344CB8AC3E}">
        <p14:creationId xmlns:p14="http://schemas.microsoft.com/office/powerpoint/2010/main" val="6583369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EEDF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C3F128-12C8-438D-A37A-7EEFDCDD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Practice 01 · 开头模板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CA184-8ACE-448C-8DDF-73D59CFC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23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F2891-2967-439C-9F69-89B196B8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Page 23 · Opening Exercise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0262A-E0BD-4E81-A030-23996BC1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Seven Slots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B9F21-EFA8-4682-B005-CD573D1A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B8D26-639F-4C54-A34E-96AF5481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E7CFF-F548-466E-938F-0C86B06E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E9419-6B24-4495-B6AA-DF283712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FEDDE-BB0B-4979-9713-BEB25C75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E09CC-D139-4D60-B822-7283F10E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C6E35-C900-4417-9F95-80140A38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71193-3820-45EE-AB3A-19AE498F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8F12A-BF78-4044-B0C0-2E2F97ED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B92FF-7532-453E-A59E-D736B52B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9B703-E0C3-4958-9B52-D775DB2C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78E42-8C43-45BD-BC4E-40376ECC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F075F-3B14-45DB-B25E-7D522467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BE870-4E4B-48DE-A4D6-A816CDFD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C73855-08D6-4D20-8195-10E4DCA8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F815ED-0703-4586-A9D2-12EB9153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9FD2B-5F42-423D-8CBE-E9AC09B1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B2F088-5A84-43AD-81DF-3E91D6B8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12ECBC-1936-4999-96B0-B3D77EE6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4EB49E-2571-4760-87AC-4A72946F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548DB5-8F06-4FE1-87F6-59240B8C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07E14A-B18C-48AD-8688-8BAE798D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04D8E7-7D15-4EE6-9183-6D4CE6B3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E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743F45-6DA1-4D2B-ABA5-CE239062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08DFFE-D8FC-4FF3-832C-228C91FE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694772-678B-4544-8115-B13BA9A5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D751FF-7A99-4947-B569-B19ABFAA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rPr>
              <a:t>仿照第一段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C4C4F5-3918-4C66-B2CF-1858A3E8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8858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405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七步写开头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A8BA35-959B-4D9F-838B-D34AEF9A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40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66F0AB-A16C-4A1D-9902-B434A8CA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EC439E-7F5E-49D9-8853-37C70FD7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19425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中心论点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494849-D467-403F-A4E7-D2E0080A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吃苦耐劳并未过时。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6E0678-DF3F-48AD-9265-B8E28F65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24125"/>
            <a:ext cx="140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520D26-0E7B-4B75-BE5D-FBE7A2CD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765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D4EF6B-3D4D-47B8-890E-E9294BA1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19425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核心定义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F99E56-6D55-40B1-B73E-0EEE9A6F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1472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它不是盲目受苦，而是长期投入。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34ECAE-307D-4A24-A6C5-42519CD3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24125"/>
            <a:ext cx="140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5C49B5-ED5F-4E05-8854-BF7C722E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765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D286D3-486D-4856-98CB-E276DE37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19425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普遍前提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1C3F8A-7F71-4C79-B944-E3FD9C2F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1472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任何选择都需要能力支撑。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7E7F79-F0DD-46B3-B761-EE4399C2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24125"/>
            <a:ext cx="140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4DC6F2-C6AF-4F24-9AA3-182F9C5A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765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E94772-1A04-47BB-8BFC-996248A6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19425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反面后果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8F0D11-051C-401C-979A-476897E3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1472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不愿承担必要成本，机会也会落空。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EB75AE-6D9B-43DB-BE8B-7FFF2C13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24125"/>
            <a:ext cx="140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C17700-85D3-420D-B98F-2F715522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765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A94340-7FF0-4969-9DFD-BC453BED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19425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择标标准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9FB0EE-DB5C-4FB1-BCAD-329CB54A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1472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苦要吃在方向、方法和复盘上。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40D78C-3916-4B21-A807-08E9F07B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140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CCDC6E-FA27-43BE-B2F0-3A0ADB75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765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E033FDA-DFA7-4415-84F3-BCCF5A3F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19425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反驳偏见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8F52F9-67FC-4457-9EC2-75B9C6D9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1472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反对无效内卷，不等于反对努力。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46DDFC-0FF5-4115-BF93-C768F2D0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24125"/>
            <a:ext cx="140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B268708-3994-4C8E-862D-CFE7B023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765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>
                <a:solidFill>
                  <a:srgbClr val="766855"/>
                </a:solidFill>
                <a:latin typeface="Noto Serif SC"/>
                <a:ea typeface="Noto Serif SC"/>
                <a:cs typeface="Noto Serif SC"/>
              </a:rPr>
              <a:t>07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0AFAF75-FE54-49E0-8000-65449460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19425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总结金句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9BB700C-564F-42E2-B87B-143D4F6F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1472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耐劳之所存，成长之所存。</a:t>
            </a:r>
          </a:p>
        </p:txBody>
      </p:sp>
    </p:spTree>
    <p:extLst>
      <p:ext uri="{BB962C8B-B14F-4D97-AF65-F5344CB8AC3E}">
        <p14:creationId xmlns:p14="http://schemas.microsoft.com/office/powerpoint/2010/main" val="90559562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2A1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58328A-BDF7-48CB-9384-9385624B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Practice 02 · 本论提纲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03E90-BD7E-48EA-A227-2C1CB264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24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E29D9-F93B-4D2A-A50E-722B6C08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Page 24 · Body Outline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6655A-2C6A-4DCD-8DDB-C05509DA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Three Contrasts Applied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6D443-76C6-4439-A983-7F6319BF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166AB-72CD-4F2A-B75E-053C1E60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47C16-62FA-43A9-8DE3-B818D133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CFD37-C6A5-40A7-B370-50F82E4B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0FA21-8A28-4C11-B04F-610EE498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42A12-3A8D-43D6-9C41-C528B056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441FC-44E1-4C25-99EC-02C0E80F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D32A9-42B2-4B7B-B86E-CA7ECA5B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1EFE1-C131-4F11-BA0F-9FD0241E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13442-EC4E-44F1-858E-6E275D7B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53F63-D37A-4645-8154-E9777484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2E3695-5B0F-48EE-A3B9-4F1790B6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8FEF4-B82D-4D42-9F5F-1228006F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8F3C6-C79D-4730-AD0E-076F3164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CFC15-3459-4D5D-B26E-6334942E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FF1942-DF10-4480-9D9D-122DE420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E4032F-7348-4207-89E5-54E560C8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F43CB5-F3B9-468D-A5D8-414A7F3D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759239-1CC1-4BC8-AEEA-A2439FB6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800C03-4FD5-4980-830C-527105F5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04F98E-C3DB-48FC-8D66-4B46DAB1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50D9DB-F5DC-4D66-9411-55D3BE8F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6B5A99-42FD-4907-A177-519C306C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919FF9-6C00-4A1A-BF0D-9CC6CBFB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0D5F6C-CF55-47CF-B249-2C8D1ADA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5E02FC-1B38-4A6A-BE4D-116F01E8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2353B9-6E21-4932-BCE8-131E3637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rPr>
              <a:t>仿照三组对比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5548EA-BA15-46D7-996D-C1EF4C25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8858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46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把观点写成立体论证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891242-63FD-45CC-A30A-C8953B3C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7"/>
          </a:solidFill>
          <a:ln xmlns:a="http://schemas.openxmlformats.org/drawingml/2006/main" w="0">
            <a:solidFill>
              <a:srgbClr val="C9BDA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60541F-C1A8-4CFD-88D2-9A8AAD27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CAE98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BCAE98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9122A3-ACD6-4E83-89D1-0B1ADBD2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过去 vs 现在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4E5F35-52A7-4954-8728-299383D8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3333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EAD4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F7EAD4"/>
                </a:solidFill>
                <a:latin typeface="Noto Sans SC"/>
                <a:ea typeface="Noto Sans SC"/>
                <a:cs typeface="Noto Sans SC"/>
              </a:rPr>
              <a:t>过去需要体力耐劳，今天更需要认知耐劳、情绪耐劳和长期复盘。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1951D3-82D7-4E7A-95D7-E263A2E3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7"/>
          </a:solidFill>
          <a:ln xmlns:a="http://schemas.openxmlformats.org/drawingml/2006/main" w="0">
            <a:solidFill>
              <a:srgbClr val="C9BDA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5BE44E-2264-4745-BB15-AC2127D1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861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CAE98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BCAE98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09D8C9-EDF1-4746-A6CC-781A1E9F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861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对别人 vs 对自己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F3D384-272D-41BD-BE11-D6F33785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81450"/>
            <a:ext cx="3333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EAD4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F7EAD4"/>
                </a:solidFill>
                <a:latin typeface="Noto Sans SC"/>
                <a:ea typeface="Noto Sans SC"/>
                <a:cs typeface="Noto Sans SC"/>
              </a:rPr>
              <a:t>我们赞赏他人的长期坚持，却常把自己的逃避包装成“看透内卷”。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5377EA-A1EC-46BA-9741-A058CED0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DA7"/>
          </a:solidFill>
          <a:ln xmlns:a="http://schemas.openxmlformats.org/drawingml/2006/main" w="0">
            <a:solidFill>
              <a:srgbClr val="C9BDA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FAABF8-101E-46BF-8A83-B8E3DA3B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861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CAE98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0">
                <a:solidFill>
                  <a:srgbClr val="BCAE98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375572-21E2-4869-8DD6-F1878965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“傻”人 vs “精”人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0D7614-4C84-4202-A3CE-12E5B5A0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81450"/>
            <a:ext cx="3333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EAD4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F7EAD4"/>
                </a:solidFill>
                <a:latin typeface="Noto Sans SC"/>
                <a:ea typeface="Noto Sans SC"/>
                <a:cs typeface="Noto Sans SC"/>
              </a:rPr>
              <a:t>真正精明的人不是拒绝吃苦，而是选择值得吃的苦，并让每次投入产生积累。</a:t>
            </a:r>
          </a:p>
        </p:txBody>
      </p:sp>
    </p:spTree>
    <p:extLst>
      <p:ext uri="{BB962C8B-B14F-4D97-AF65-F5344CB8AC3E}">
        <p14:creationId xmlns:p14="http://schemas.microsoft.com/office/powerpoint/2010/main" val="10937427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EEDF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174E98-EC84-48D4-A135-683786A9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Practice 03 · 预设反驳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EB1A3-FF9F-40D6-A5F2-9697BC19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25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2CF14-87A6-4247-8AFC-EF544E1A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Page 25 · Rebuttal Exercise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596F0-ADCE-435E-9459-2DC2D631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Opponent Sentences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AAA2D-7715-471B-8683-23A2D37A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02A65-5C2B-4FAD-9389-26A905D7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94541-28CE-420D-BC56-87D51274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26ED5-FB1F-406D-AABD-4BB6833F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29A30-236B-4D8F-880B-49263396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0F4B0-4F24-4227-BC04-F9C9DBA9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6E04F-3A97-4D44-948F-87D41B98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5C1E9-C401-47A5-9257-8155A46F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01340-3521-48F7-82B0-D1058C43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2FA5A-DC89-49E1-8FCF-20DA8FD7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4C21D-6EA3-4A30-85E3-19AFBFA7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6E6CD-A40D-4B07-B039-24027920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9BE89-9C4B-4D28-B7FB-366632AE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FCB401-4A03-4A88-AC16-442E0A00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CC176-A91E-4D20-97C4-F5E2BFC8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9DB792-10BA-4717-9A2B-CBC0CE43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BE0642-14D6-473B-B442-405CAB3B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8C927A-978D-4849-BDD0-628BD9CF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61500B-1311-49E8-B3E0-55357EE1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59A4C7-DF30-4309-9953-CB069F19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BCD064-4536-460B-A008-B8B1B9CE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1CCE18-E093-4BE5-B365-A565DDA1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B00940-AE26-456E-9F2B-B3505316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AC1937-55BF-49DA-8407-0E52CC5A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1E237B-465A-45C4-96A2-D03AFDC7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E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7AC8DB-FFC2-4A4E-9311-CB8194E9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8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1F5319-0059-416E-A2B4-1B8DC93A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66855"/>
                </a:solidFill>
                <a:latin typeface="Noto Sans SC"/>
                <a:ea typeface="Noto Sans SC"/>
                <a:cs typeface="Noto Sans SC"/>
              </a:rPr>
              <a:t>仿照结构性驳论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FA61F7-CB77-45DF-8FA6-E773D9E6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8858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42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至少列出两个假想敌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5264F7-C3AB-4A01-B9C3-5BF09FF1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70DCA3-9B91-4EDE-9F97-25A875D7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Opponent 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B30522-30EC-4381-9FDC-A7B6C2A9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“苦干只会被剥削”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1007FE-DB7C-4343-AE9D-8B6F2572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4572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反驳思路：批判剥削不等于否定努力。真正要反对的是没有方向、没有权益、没有成长的消耗。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3639AA-3A1E-48F7-B2D6-2F9B15A5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A63"/>
          </a:solidFill>
          <a:ln xmlns:a="http://schemas.openxmlformats.org/drawingml/2006/main" w="0">
            <a:solidFill>
              <a:srgbClr val="8B7A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BEFE35-CA47-4690-95D0-A25A8957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defRPr>
            </a:pPr>
            <a:r>
              <a:rPr sz="975" b="0">
                <a:solidFill>
                  <a:srgbClr val="766855"/>
                </a:solidFill>
                <a:latin typeface="IBM Plex Mono"/>
                <a:ea typeface="IBM Plex Mono"/>
                <a:cs typeface="IBM Plex Mono"/>
              </a:rPr>
              <a:t>Opponent 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F29ABC-02F7-4F35-B5E5-5485AB5C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“选择比努力重要”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537CB7-4F25-4BC3-A9CC-2953A0EB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43375"/>
            <a:ext cx="4572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2A1E13"/>
                </a:solidFill>
                <a:latin typeface="Noto Sans SC"/>
                <a:ea typeface="Noto Sans SC"/>
                <a:cs typeface="Noto Sans SC"/>
              </a:rPr>
              <a:t>反驳思路：选择当然重要，但选择能力本身来自长期学习、观察、试错和复盘。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88B155-B031-4E42-ADB3-6EF103B7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78A7D1-2D82-409A-A2D5-75202D5F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0">
                <a:solidFill>
                  <a:srgbClr val="2A1E13"/>
                </a:solidFill>
                <a:latin typeface="Noto Serif SC"/>
                <a:ea typeface="Noto Serif SC"/>
                <a:cs typeface="Noto Serif SC"/>
              </a:rPr>
              <a:t>你越能替反对者把话说清楚，你的反驳就越有力量。</a:t>
            </a:r>
          </a:p>
        </p:txBody>
      </p:sp>
    </p:spTree>
    <p:extLst>
      <p:ext uri="{BB962C8B-B14F-4D97-AF65-F5344CB8AC3E}">
        <p14:creationId xmlns:p14="http://schemas.microsoft.com/office/powerpoint/2010/main" val="147024723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2A1E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81BC4D-093A-44D2-8470-0FEC860A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76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Closing ·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7CCE3-D14C-466A-9E02-7CC58A6C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825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26 /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599C2-7F47-4D90-86BD-7C9C705B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769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End · Debate Before Writing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AF339-9C0A-4AFA-8A10-42D8B19F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769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defRPr>
            </a:pPr>
            <a:r>
              <a:rPr sz="750" b="0">
                <a:solidFill>
                  <a:srgbClr val="BCAE98"/>
                </a:solidFill>
                <a:latin typeface="IBM Plex Mono"/>
                <a:ea typeface="IBM Plex Mono"/>
                <a:cs typeface="IBM Plex Mono"/>
              </a:rPr>
              <a:t>Han Yu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DB56D-B37C-490D-A821-0EC1A7C7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57CFB-D31C-4585-86EC-0ABD7141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EF969-578B-4FC1-9A9C-2E54B273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37ABD-8B73-4091-866E-03F2560D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6DFF8-08D0-447A-AF70-0899428C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F12FC-199F-495C-99C0-269B415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8FC04-A67F-4755-964F-3D6E35BA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B5280-6BAE-4337-A560-57B0DD75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73023-D704-409F-851F-D10A1E97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968F6-7087-4878-8F66-248E9B1E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A2E4E-307E-4898-8BDC-709BABC5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2BCC4-077C-49DD-8CD1-7A9432C8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FCCE7-FA1A-42AC-B79D-FB597862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81255-7BDC-495E-ABCB-C2BA0AC1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D22D1-7FF2-46E1-A778-94728A2C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629936-AC4C-440E-8ED2-8D899531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A506D-981C-4FA9-B9C4-20892C4C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917C4D-227D-4858-B463-73725BFE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1252BF-F281-436A-B9F2-9461C022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DDF2F4-EA31-4DB3-A8C6-28D5E299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23600A-BF7D-4695-B394-91C276E3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F39538-8165-46ED-B7F9-50B10F63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E9433A-C342-445A-AAB5-65758BB4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873F39-39B6-407F-B770-7012E48F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9399F8-E76F-4BB5-9F24-3FAF57E3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5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E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4658E1-5766-43B3-A9EF-F0ACE27A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532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A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173E8A-EC41-4C3F-9476-E4A7851F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BCAE98"/>
                </a:solidFill>
                <a:latin typeface="Noto Sans SC"/>
                <a:ea typeface="Noto Sans SC"/>
                <a:cs typeface="Noto Sans SC"/>
              </a:rPr>
              <a:t>最后记住一句话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499367-2C4F-44F0-92D3-624BC571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9048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46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好文章不是写出来的，</a:t>
            </a:r>
          </a:p>
          <a:p xmlns:a="http://schemas.openxmlformats.org/drawingml/2006/main">
            <a:pPr algn="l">
              <a:defRPr sz="46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4650" b="1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是辩出来的。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CCE1A4-3174-4095-87E2-EB3DD0BF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0">
                <a:solidFill>
                  <a:srgbClr val="F7EAD4"/>
                </a:solidFill>
                <a:latin typeface="Noto Serif SC"/>
                <a:ea typeface="Noto Serif SC"/>
                <a:cs typeface="Noto Serif SC"/>
              </a:rPr>
              <a:t>不怕别人骂，就怕没人骂。把反对意见写进文章，你的论证才真正开始发力。</a:t>
            </a:r>
          </a:p>
        </p:txBody>
      </p:sp>
    </p:spTree>
    <p:extLst>
      <p:ext uri="{BB962C8B-B14F-4D97-AF65-F5344CB8AC3E}">
        <p14:creationId xmlns:p14="http://schemas.microsoft.com/office/powerpoint/2010/main" val="370478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2026-06-15T15:24:42.3460000Z</dcterms:created>
  <dcterms:modified xsi:type="dcterms:W3CDTF">2026-06-15T15:24:42.3460000Z</dcterms:modified>
</coreProperties>
</file>